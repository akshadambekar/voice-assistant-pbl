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1" r:id="rId2"/>
    <p:sldId id="257" r:id="rId3"/>
    <p:sldId id="258" r:id="rId4"/>
    <p:sldId id="259" r:id="rId5"/>
    <p:sldId id="260" r:id="rId6"/>
    <p:sldId id="261" r:id="rId7"/>
    <p:sldId id="262" r:id="rId8"/>
    <p:sldId id="263" r:id="rId9"/>
    <p:sldId id="264" r:id="rId10"/>
    <p:sldId id="265" r:id="rId11"/>
    <p:sldId id="272" r:id="rId12"/>
    <p:sldId id="266" r:id="rId13"/>
    <p:sldId id="267" r:id="rId14"/>
    <p:sldId id="268" r:id="rId15"/>
    <p:sldId id="270" r:id="rId16"/>
  </p:sldIdLst>
  <p:sldSz cx="12192000" cy="6858000"/>
  <p:notesSz cx="12192000" cy="6858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29" autoAdjust="0"/>
  </p:normalViewPr>
  <p:slideViewPr>
    <p:cSldViewPr>
      <p:cViewPr varScale="1">
        <p:scale>
          <a:sx n="73" d="100"/>
          <a:sy n="73" d="100"/>
        </p:scale>
        <p:origin x="1042" y="72"/>
      </p:cViewPr>
      <p:guideLst>
        <p:guide orient="horz" pos="2880"/>
        <p:guide pos="2160"/>
      </p:guideLst>
    </p:cSldViewPr>
  </p:slideViewPr>
  <p:notesTextViewPr>
    <p:cViewPr>
      <p:scale>
        <a:sx n="100" d="100"/>
        <a:sy n="100" d="100"/>
      </p:scale>
      <p:origin x="0" y="0"/>
    </p:cViewPr>
  </p:notesTextViewPr>
  <p:notesViewPr>
    <p:cSldViewPr>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6" name="Holder 6"/>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7" name="Holder 7"/>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4" name="Holder 4"/>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5" name="Holder 5"/>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3" name="Holder 3"/>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4" name="Holder 4"/>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a:stretch>
            <a:fillRect/>
          </a:stretch>
        </p:blipFill>
        <p:spPr>
          <a:xfrm>
            <a:off x="493778" y="372587"/>
            <a:ext cx="10815574" cy="985727"/>
          </a:xfrm>
          <a:prstGeom prst="rect">
            <a:avLst/>
          </a:prstGeom>
        </p:spPr>
      </p:pic>
      <p:pic>
        <p:nvPicPr>
          <p:cNvPr id="17" name="bg object 17"/>
          <p:cNvPicPr/>
          <p:nvPr/>
        </p:nvPicPr>
        <p:blipFill>
          <a:blip r:embed="rId8"/>
          <a:stretch>
            <a:fillRect/>
          </a:stretch>
        </p:blipFill>
        <p:spPr>
          <a:xfrm>
            <a:off x="838200" y="365125"/>
            <a:ext cx="10515599" cy="685752"/>
          </a:xfrm>
          <a:prstGeom prst="rect">
            <a:avLst/>
          </a:prstGeom>
        </p:spPr>
      </p:pic>
      <p:sp>
        <p:nvSpPr>
          <p:cNvPr id="2" name="Holder 2"/>
          <p:cNvSpPr>
            <a:spLocks noGrp="1"/>
          </p:cNvSpPr>
          <p:nvPr>
            <p:ph type="title"/>
          </p:nvPr>
        </p:nvSpPr>
        <p:spPr>
          <a:xfrm>
            <a:off x="911225" y="420956"/>
            <a:ext cx="10369550" cy="513080"/>
          </a:xfrm>
          <a:prstGeom prst="rect">
            <a:avLst/>
          </a:prstGeom>
        </p:spPr>
        <p:txBody>
          <a:bodyPr wrap="square" lIns="0" tIns="0" rIns="0" bIns="0">
            <a:spAutoFit/>
          </a:bodyPr>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a:xfrm>
            <a:off x="831850" y="1328737"/>
            <a:ext cx="10534650" cy="46012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704532" y="6446223"/>
            <a:ext cx="78232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a:xfrm>
            <a:off x="301057" y="6462098"/>
            <a:ext cx="736600" cy="194309"/>
          </a:xfrm>
          <a:prstGeom prst="rect">
            <a:avLst/>
          </a:prstGeom>
        </p:spPr>
        <p:txBody>
          <a:bodyPr wrap="square" lIns="0" tIns="0" rIns="0" bIns="0">
            <a:spAutoFit/>
          </a:bodyPr>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a:xfrm>
            <a:off x="11573377" y="6471377"/>
            <a:ext cx="254000" cy="222884"/>
          </a:xfrm>
          <a:prstGeom prst="rect">
            <a:avLst/>
          </a:prstGeom>
        </p:spPr>
        <p:txBody>
          <a:bodyPr wrap="square" lIns="0" tIns="0" rIns="0" bIns="0">
            <a:spAutoFit/>
          </a:bodyPr>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hyperlink" Target="../my%20python%20files/Final%20PBL%20Project%20Test.p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67D6A3-CBAA-49CE-7859-DE9297653A29}"/>
              </a:ext>
            </a:extLst>
          </p:cNvPr>
          <p:cNvSpPr txBox="1"/>
          <p:nvPr/>
        </p:nvSpPr>
        <p:spPr>
          <a:xfrm>
            <a:off x="3864908" y="501985"/>
            <a:ext cx="4454338"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dirty="0">
                <a:ea typeface="+mn-lt"/>
                <a:cs typeface="+mn-lt"/>
              </a:rPr>
              <a:t>A Project </a:t>
            </a:r>
            <a:r>
              <a:rPr lang="en-IN" sz="2500" dirty="0">
                <a:ea typeface="+mn-lt"/>
                <a:cs typeface="+mn-lt"/>
              </a:rPr>
              <a:t>B</a:t>
            </a:r>
            <a:r>
              <a:rPr lang="en-US" sz="2500" dirty="0">
                <a:ea typeface="+mn-lt"/>
                <a:cs typeface="+mn-lt"/>
              </a:rPr>
              <a:t>ased Learning project </a:t>
            </a:r>
          </a:p>
          <a:p>
            <a:pPr algn="ctr"/>
            <a:endParaRPr lang="en-US" dirty="0"/>
          </a:p>
          <a:p>
            <a:pPr algn="ctr"/>
            <a:r>
              <a:rPr lang="en-US" sz="2800" b="1" dirty="0">
                <a:latin typeface="Arial Black" panose="020B0604020202020204" pitchFamily="34" charset="0"/>
                <a:cs typeface="Arial Black" panose="020B0604020202020204" pitchFamily="34" charset="0"/>
              </a:rPr>
              <a:t>Desktop Voice Assistant</a:t>
            </a:r>
            <a:r>
              <a:rPr lang="en-IN" sz="2800" b="1" dirty="0">
                <a:latin typeface="Arial Black" panose="020B0604020202020204" pitchFamily="34" charset="0"/>
                <a:cs typeface="Arial Black" panose="020B0604020202020204" pitchFamily="34" charset="0"/>
              </a:rPr>
              <a:t> </a:t>
            </a:r>
          </a:p>
          <a:p>
            <a:pPr algn="l"/>
            <a:endParaRPr lang="en-US" dirty="0"/>
          </a:p>
        </p:txBody>
      </p:sp>
      <p:pic>
        <p:nvPicPr>
          <p:cNvPr id="3" name="Picture 2" descr="A logo of a college&#10;&#10;Description automatically generated">
            <a:extLst>
              <a:ext uri="{FF2B5EF4-FFF2-40B4-BE49-F238E27FC236}">
                <a16:creationId xmlns:a16="http://schemas.microsoft.com/office/drawing/2014/main" id="{B72DC960-7383-7146-747A-9A1577C9E3C8}"/>
              </a:ext>
            </a:extLst>
          </p:cNvPr>
          <p:cNvPicPr>
            <a:picLocks noChangeAspect="1"/>
          </p:cNvPicPr>
          <p:nvPr/>
        </p:nvPicPr>
        <p:blipFill>
          <a:blip r:embed="rId2"/>
          <a:stretch>
            <a:fillRect/>
          </a:stretch>
        </p:blipFill>
        <p:spPr>
          <a:xfrm>
            <a:off x="293364" y="150061"/>
            <a:ext cx="2378891" cy="2051080"/>
          </a:xfrm>
          <a:prstGeom prst="rect">
            <a:avLst/>
          </a:prstGeom>
        </p:spPr>
      </p:pic>
      <p:pic>
        <p:nvPicPr>
          <p:cNvPr id="4" name="Picture 3" descr="A yellow and black emblem with horses and a building&#10;&#10;Description automatically generated">
            <a:extLst>
              <a:ext uri="{FF2B5EF4-FFF2-40B4-BE49-F238E27FC236}">
                <a16:creationId xmlns:a16="http://schemas.microsoft.com/office/drawing/2014/main" id="{555323C9-FBEF-1FDE-2ACA-F2913E2F8D04}"/>
              </a:ext>
            </a:extLst>
          </p:cNvPr>
          <p:cNvPicPr>
            <a:picLocks noChangeAspect="1"/>
          </p:cNvPicPr>
          <p:nvPr/>
        </p:nvPicPr>
        <p:blipFill>
          <a:blip r:embed="rId3"/>
          <a:stretch>
            <a:fillRect/>
          </a:stretch>
        </p:blipFill>
        <p:spPr>
          <a:xfrm>
            <a:off x="9525000" y="150061"/>
            <a:ext cx="2378891" cy="2051080"/>
          </a:xfrm>
          <a:prstGeom prst="rect">
            <a:avLst/>
          </a:prstGeom>
        </p:spPr>
      </p:pic>
      <p:sp>
        <p:nvSpPr>
          <p:cNvPr id="5" name="TextBox 4">
            <a:extLst>
              <a:ext uri="{FF2B5EF4-FFF2-40B4-BE49-F238E27FC236}">
                <a16:creationId xmlns:a16="http://schemas.microsoft.com/office/drawing/2014/main" id="{DD485BB9-0566-F39E-3E14-F48C7E9AB1B4}"/>
              </a:ext>
            </a:extLst>
          </p:cNvPr>
          <p:cNvSpPr txBox="1"/>
          <p:nvPr/>
        </p:nvSpPr>
        <p:spPr>
          <a:xfrm>
            <a:off x="2562073" y="5988237"/>
            <a:ext cx="76294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
            <a:r>
              <a:rPr lang="en-IN" sz="2800" b="1" spc="-5" dirty="0" err="1">
                <a:latin typeface="Times New Roman"/>
                <a:cs typeface="Times New Roman"/>
              </a:rPr>
              <a:t>Amrutvahini</a:t>
            </a:r>
            <a:r>
              <a:rPr lang="en-IN" sz="2800" b="1" spc="-25" dirty="0">
                <a:latin typeface="Times New Roman"/>
                <a:cs typeface="Times New Roman"/>
              </a:rPr>
              <a:t> </a:t>
            </a:r>
            <a:r>
              <a:rPr lang="en-IN" sz="2800" b="1" spc="-5" dirty="0">
                <a:latin typeface="Times New Roman"/>
                <a:cs typeface="Times New Roman"/>
              </a:rPr>
              <a:t>College</a:t>
            </a:r>
            <a:r>
              <a:rPr lang="en-IN" sz="2800" b="1" spc="-25" dirty="0">
                <a:latin typeface="Times New Roman"/>
                <a:cs typeface="Times New Roman"/>
              </a:rPr>
              <a:t> </a:t>
            </a:r>
            <a:r>
              <a:rPr lang="en-IN" sz="2800" b="1" dirty="0">
                <a:latin typeface="Times New Roman"/>
                <a:cs typeface="Times New Roman"/>
              </a:rPr>
              <a:t>of</a:t>
            </a:r>
            <a:r>
              <a:rPr lang="en-IN" sz="2800" b="1" spc="-20" dirty="0">
                <a:latin typeface="Times New Roman"/>
                <a:cs typeface="Times New Roman"/>
              </a:rPr>
              <a:t> </a:t>
            </a:r>
            <a:r>
              <a:rPr lang="en-IN" sz="2800" b="1" spc="-10" dirty="0">
                <a:latin typeface="Times New Roman"/>
                <a:cs typeface="Times New Roman"/>
              </a:rPr>
              <a:t>Engineering,</a:t>
            </a:r>
            <a:r>
              <a:rPr lang="en-IN" sz="2800" b="1" spc="-25" dirty="0">
                <a:latin typeface="Times New Roman"/>
                <a:cs typeface="Times New Roman"/>
              </a:rPr>
              <a:t> </a:t>
            </a:r>
            <a:r>
              <a:rPr lang="en-IN" sz="2800" b="1" spc="-5" dirty="0" err="1">
                <a:latin typeface="Times New Roman"/>
                <a:cs typeface="Times New Roman"/>
              </a:rPr>
              <a:t>Sangamner</a:t>
            </a:r>
            <a:endParaRPr lang="en-IN" sz="2800" b="1" spc="-5" dirty="0">
              <a:latin typeface="Times New Roman"/>
              <a:cs typeface="Times New Roman"/>
            </a:endParaRPr>
          </a:p>
        </p:txBody>
      </p:sp>
      <p:graphicFrame>
        <p:nvGraphicFramePr>
          <p:cNvPr id="7" name="Table 6">
            <a:extLst>
              <a:ext uri="{FF2B5EF4-FFF2-40B4-BE49-F238E27FC236}">
                <a16:creationId xmlns:a16="http://schemas.microsoft.com/office/drawing/2014/main" id="{6A0DFD64-308A-023C-87A5-011E1AF56051}"/>
              </a:ext>
            </a:extLst>
          </p:cNvPr>
          <p:cNvGraphicFramePr>
            <a:graphicFrameLocks noGrp="1"/>
          </p:cNvGraphicFramePr>
          <p:nvPr>
            <p:extLst>
              <p:ext uri="{D42A27DB-BD31-4B8C-83A1-F6EECF244321}">
                <p14:modId xmlns:p14="http://schemas.microsoft.com/office/powerpoint/2010/main" val="2652055213"/>
              </p:ext>
            </p:extLst>
          </p:nvPr>
        </p:nvGraphicFramePr>
        <p:xfrm>
          <a:off x="1995963" y="2761352"/>
          <a:ext cx="8191107" cy="2051080"/>
        </p:xfrm>
        <a:graphic>
          <a:graphicData uri="http://schemas.openxmlformats.org/drawingml/2006/table">
            <a:tbl>
              <a:tblPr firstRow="1">
                <a:tableStyleId>{5940675A-B579-460E-94D1-54222C63F5DA}</a:tableStyleId>
              </a:tblPr>
              <a:tblGrid>
                <a:gridCol w="2730369">
                  <a:extLst>
                    <a:ext uri="{9D8B030D-6E8A-4147-A177-3AD203B41FA5}">
                      <a16:colId xmlns:a16="http://schemas.microsoft.com/office/drawing/2014/main" val="629895459"/>
                    </a:ext>
                  </a:extLst>
                </a:gridCol>
                <a:gridCol w="2730369">
                  <a:extLst>
                    <a:ext uri="{9D8B030D-6E8A-4147-A177-3AD203B41FA5}">
                      <a16:colId xmlns:a16="http://schemas.microsoft.com/office/drawing/2014/main" val="1856441180"/>
                    </a:ext>
                  </a:extLst>
                </a:gridCol>
                <a:gridCol w="2730369">
                  <a:extLst>
                    <a:ext uri="{9D8B030D-6E8A-4147-A177-3AD203B41FA5}">
                      <a16:colId xmlns:a16="http://schemas.microsoft.com/office/drawing/2014/main" val="422069128"/>
                    </a:ext>
                  </a:extLst>
                </a:gridCol>
              </a:tblGrid>
              <a:tr h="410216">
                <a:tc>
                  <a:txBody>
                    <a:bodyPr/>
                    <a:lstStyle/>
                    <a:p>
                      <a:pPr algn="ctr"/>
                      <a:r>
                        <a:rPr lang="en-IN" dirty="0">
                          <a:latin typeface="+mj-lt"/>
                        </a:rPr>
                        <a:t>Name</a:t>
                      </a:r>
                      <a:endParaRPr lang="en-US" dirty="0">
                        <a:latin typeface="+mj-lt"/>
                      </a:endParaRPr>
                    </a:p>
                  </a:txBody>
                  <a:tcPr anchor="ctr"/>
                </a:tc>
                <a:tc>
                  <a:txBody>
                    <a:bodyPr/>
                    <a:lstStyle/>
                    <a:p>
                      <a:pPr algn="ctr"/>
                      <a:r>
                        <a:rPr lang="en-IN" dirty="0"/>
                        <a:t>Roll No.</a:t>
                      </a:r>
                      <a:endParaRPr lang="en-US" dirty="0"/>
                    </a:p>
                  </a:txBody>
                  <a:tcPr anchor="ctr"/>
                </a:tc>
                <a:tc>
                  <a:txBody>
                    <a:bodyPr/>
                    <a:lstStyle/>
                    <a:p>
                      <a:pPr algn="ctr"/>
                      <a:r>
                        <a:rPr lang="en-IN" dirty="0"/>
                        <a:t>Seat No.</a:t>
                      </a:r>
                      <a:endParaRPr lang="en-US" dirty="0"/>
                    </a:p>
                  </a:txBody>
                  <a:tcPr anchor="ctr"/>
                </a:tc>
                <a:extLst>
                  <a:ext uri="{0D108BD9-81ED-4DB2-BD59-A6C34878D82A}">
                    <a16:rowId xmlns:a16="http://schemas.microsoft.com/office/drawing/2014/main" val="405646558"/>
                  </a:ext>
                </a:extLst>
              </a:tr>
              <a:tr h="410216">
                <a:tc>
                  <a:txBody>
                    <a:bodyPr/>
                    <a:lstStyle/>
                    <a:p>
                      <a:pPr algn="ctr"/>
                      <a:r>
                        <a:rPr lang="en-IN" dirty="0" err="1"/>
                        <a:t>Sarang</a:t>
                      </a:r>
                      <a:r>
                        <a:rPr lang="en-IN" dirty="0"/>
                        <a:t> Deshpande </a:t>
                      </a:r>
                      <a:endParaRPr lang="en-US" dirty="0"/>
                    </a:p>
                  </a:txBody>
                  <a:tcPr anchor="ctr"/>
                </a:tc>
                <a:tc>
                  <a:txBody>
                    <a:bodyPr/>
                    <a:lstStyle/>
                    <a:p>
                      <a:pPr algn="ctr"/>
                      <a:r>
                        <a:rPr lang="en-IN" dirty="0"/>
                        <a:t>2116</a:t>
                      </a:r>
                      <a:endParaRPr lang="en-US" dirty="0"/>
                    </a:p>
                  </a:txBody>
                  <a:tcPr anchor="ctr"/>
                </a:tc>
                <a:tc>
                  <a:txBody>
                    <a:bodyPr/>
                    <a:lstStyle/>
                    <a:p>
                      <a:pPr algn="ctr"/>
                      <a:r>
                        <a:rPr lang="en-US" dirty="0"/>
                        <a:t>S1901004229</a:t>
                      </a:r>
                    </a:p>
                  </a:txBody>
                  <a:tcPr anchor="ctr"/>
                </a:tc>
                <a:extLst>
                  <a:ext uri="{0D108BD9-81ED-4DB2-BD59-A6C34878D82A}">
                    <a16:rowId xmlns:a16="http://schemas.microsoft.com/office/drawing/2014/main" val="3230073806"/>
                  </a:ext>
                </a:extLst>
              </a:tr>
              <a:tr h="410216">
                <a:tc>
                  <a:txBody>
                    <a:bodyPr/>
                    <a:lstStyle/>
                    <a:p>
                      <a:pPr algn="ctr"/>
                      <a:r>
                        <a:rPr lang="en-IN" dirty="0" err="1"/>
                        <a:t>Uday</a:t>
                      </a:r>
                      <a:r>
                        <a:rPr lang="en-IN" dirty="0"/>
                        <a:t> </a:t>
                      </a:r>
                      <a:r>
                        <a:rPr lang="en-IN" dirty="0" err="1"/>
                        <a:t>Dherange</a:t>
                      </a:r>
                      <a:r>
                        <a:rPr lang="en-IN" dirty="0"/>
                        <a:t> </a:t>
                      </a:r>
                      <a:endParaRPr lang="en-US" dirty="0"/>
                    </a:p>
                  </a:txBody>
                  <a:tcPr anchor="ctr"/>
                </a:tc>
                <a:tc>
                  <a:txBody>
                    <a:bodyPr/>
                    <a:lstStyle/>
                    <a:p>
                      <a:pPr algn="ctr"/>
                      <a:r>
                        <a:rPr lang="en-IN" dirty="0"/>
                        <a:t>2117</a:t>
                      </a:r>
                      <a:endParaRPr lang="en-US" dirty="0"/>
                    </a:p>
                  </a:txBody>
                  <a:tcPr anchor="ctr"/>
                </a:tc>
                <a:tc>
                  <a:txBody>
                    <a:bodyPr/>
                    <a:lstStyle/>
                    <a:p>
                      <a:pPr algn="ctr"/>
                      <a:r>
                        <a:rPr lang="en-US" dirty="0"/>
                        <a:t>S1901004391</a:t>
                      </a:r>
                    </a:p>
                  </a:txBody>
                  <a:tcPr anchor="ctr"/>
                </a:tc>
                <a:extLst>
                  <a:ext uri="{0D108BD9-81ED-4DB2-BD59-A6C34878D82A}">
                    <a16:rowId xmlns:a16="http://schemas.microsoft.com/office/drawing/2014/main" val="2445906370"/>
                  </a:ext>
                </a:extLst>
              </a:tr>
              <a:tr h="410216">
                <a:tc>
                  <a:txBody>
                    <a:bodyPr/>
                    <a:lstStyle/>
                    <a:p>
                      <a:pPr algn="ctr"/>
                      <a:r>
                        <a:rPr lang="en-IN" dirty="0" err="1"/>
                        <a:t>Akshad</a:t>
                      </a:r>
                      <a:r>
                        <a:rPr lang="en-IN" dirty="0"/>
                        <a:t> </a:t>
                      </a:r>
                      <a:r>
                        <a:rPr lang="en-IN" dirty="0" err="1"/>
                        <a:t>Ambekar</a:t>
                      </a:r>
                      <a:endParaRPr lang="en-US" dirty="0"/>
                    </a:p>
                  </a:txBody>
                  <a:tcPr anchor="ctr"/>
                </a:tc>
                <a:tc>
                  <a:txBody>
                    <a:bodyPr/>
                    <a:lstStyle/>
                    <a:p>
                      <a:pPr algn="ctr"/>
                      <a:r>
                        <a:rPr lang="en-IN" dirty="0"/>
                        <a:t>2103</a:t>
                      </a:r>
                      <a:endParaRPr lang="en-US" dirty="0"/>
                    </a:p>
                  </a:txBody>
                  <a:tcPr anchor="ctr"/>
                </a:tc>
                <a:tc>
                  <a:txBody>
                    <a:bodyPr/>
                    <a:lstStyle/>
                    <a:p>
                      <a:pPr algn="ctr"/>
                      <a:r>
                        <a:rPr lang="en-US" dirty="0"/>
                        <a:t>S1901004204</a:t>
                      </a:r>
                    </a:p>
                  </a:txBody>
                  <a:tcPr anchor="ctr"/>
                </a:tc>
                <a:extLst>
                  <a:ext uri="{0D108BD9-81ED-4DB2-BD59-A6C34878D82A}">
                    <a16:rowId xmlns:a16="http://schemas.microsoft.com/office/drawing/2014/main" val="1322431993"/>
                  </a:ext>
                </a:extLst>
              </a:tr>
              <a:tr h="410216">
                <a:tc>
                  <a:txBody>
                    <a:bodyPr/>
                    <a:lstStyle/>
                    <a:p>
                      <a:pPr algn="ctr"/>
                      <a:r>
                        <a:rPr lang="en-IN" dirty="0"/>
                        <a:t>Sai </a:t>
                      </a:r>
                      <a:r>
                        <a:rPr lang="en-IN" dirty="0" err="1"/>
                        <a:t>Abhang</a:t>
                      </a:r>
                      <a:endParaRPr lang="en-US" dirty="0"/>
                    </a:p>
                  </a:txBody>
                  <a:tcPr anchor="ctr"/>
                </a:tc>
                <a:tc>
                  <a:txBody>
                    <a:bodyPr/>
                    <a:lstStyle/>
                    <a:p>
                      <a:pPr algn="ctr"/>
                      <a:r>
                        <a:rPr lang="en-IN" dirty="0"/>
                        <a:t>2101</a:t>
                      </a:r>
                      <a:endParaRPr lang="en-US" dirty="0"/>
                    </a:p>
                  </a:txBody>
                  <a:tcPr anchor="ctr"/>
                </a:tc>
                <a:tc>
                  <a:txBody>
                    <a:bodyPr/>
                    <a:lstStyle/>
                    <a:p>
                      <a:pPr algn="ctr"/>
                      <a:r>
                        <a:rPr lang="en-US" dirty="0"/>
                        <a:t>S190100</a:t>
                      </a:r>
                    </a:p>
                  </a:txBody>
                  <a:tcPr anchor="ctr"/>
                </a:tc>
                <a:extLst>
                  <a:ext uri="{0D108BD9-81ED-4DB2-BD59-A6C34878D82A}">
                    <a16:rowId xmlns:a16="http://schemas.microsoft.com/office/drawing/2014/main" val="3420775162"/>
                  </a:ext>
                </a:extLst>
              </a:tr>
            </a:tbl>
          </a:graphicData>
        </a:graphic>
      </p:graphicFrame>
      <p:sp>
        <p:nvSpPr>
          <p:cNvPr id="8" name="TextBox 7">
            <a:extLst>
              <a:ext uri="{FF2B5EF4-FFF2-40B4-BE49-F238E27FC236}">
                <a16:creationId xmlns:a16="http://schemas.microsoft.com/office/drawing/2014/main" id="{BBCF2B2E-4A2B-B00B-8C2A-07D35B768299}"/>
              </a:ext>
            </a:extLst>
          </p:cNvPr>
          <p:cNvSpPr txBox="1"/>
          <p:nvPr/>
        </p:nvSpPr>
        <p:spPr>
          <a:xfrm>
            <a:off x="5177117" y="2201141"/>
            <a:ext cx="1828800" cy="369332"/>
          </a:xfrm>
          <a:prstGeom prst="rect">
            <a:avLst/>
          </a:prstGeom>
          <a:noFill/>
        </p:spPr>
        <p:txBody>
          <a:bodyPr wrap="square" rtlCol="0" anchor="ctr">
            <a:spAutoFit/>
          </a:bodyPr>
          <a:lstStyle/>
          <a:p>
            <a:pPr algn="ctr"/>
            <a:r>
              <a:rPr lang="en-IN" dirty="0"/>
              <a:t>Presented by</a:t>
            </a:r>
          </a:p>
        </p:txBody>
      </p:sp>
      <p:sp>
        <p:nvSpPr>
          <p:cNvPr id="10" name="TextBox 9">
            <a:extLst>
              <a:ext uri="{FF2B5EF4-FFF2-40B4-BE49-F238E27FC236}">
                <a16:creationId xmlns:a16="http://schemas.microsoft.com/office/drawing/2014/main" id="{292DC6FD-0D3F-D147-556F-70CE4DE4857D}"/>
              </a:ext>
            </a:extLst>
          </p:cNvPr>
          <p:cNvSpPr txBox="1"/>
          <p:nvPr/>
        </p:nvSpPr>
        <p:spPr>
          <a:xfrm>
            <a:off x="4673474" y="5117418"/>
            <a:ext cx="2836086" cy="738664"/>
          </a:xfrm>
          <a:prstGeom prst="rect">
            <a:avLst/>
          </a:prstGeom>
          <a:noFill/>
        </p:spPr>
        <p:txBody>
          <a:bodyPr wrap="square" rtlCol="0">
            <a:spAutoFit/>
          </a:bodyPr>
          <a:lstStyle/>
          <a:p>
            <a:pPr algn="ctr"/>
            <a:r>
              <a:rPr lang="en-IN" dirty="0"/>
              <a:t>Under the guidance of</a:t>
            </a:r>
            <a:br>
              <a:rPr lang="en-IN" dirty="0"/>
            </a:br>
            <a:r>
              <a:rPr lang="en-IN" sz="2400" b="1" spc="-5" dirty="0">
                <a:solidFill>
                  <a:srgbClr val="C00000"/>
                </a:solidFill>
                <a:latin typeface="Arial"/>
              </a:rPr>
              <a:t>Prof. A. R. Nehe</a:t>
            </a:r>
            <a:endParaRPr lang="en-IN" sz="1800" b="1" spc="-5" dirty="0">
              <a:solidFill>
                <a:srgbClr val="C00000"/>
              </a:solidFill>
              <a:latin typeface="Arial"/>
            </a:endParaRPr>
          </a:p>
        </p:txBody>
      </p:sp>
    </p:spTree>
    <p:extLst>
      <p:ext uri="{BB962C8B-B14F-4D97-AF65-F5344CB8AC3E}">
        <p14:creationId xmlns:p14="http://schemas.microsoft.com/office/powerpoint/2010/main" val="38340928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72187" y="1205281"/>
            <a:ext cx="10515599" cy="5165582"/>
          </a:xfrm>
          <a:prstGeom prst="rect">
            <a:avLst/>
          </a:prstGeom>
        </p:spPr>
        <p:txBody>
          <a:bodyPr vert="horz" wrap="square" lIns="0" tIns="120650" rIns="0" bIns="0" rtlCol="0">
            <a:spAutoFit/>
          </a:bodyPr>
          <a:lstStyle/>
          <a:p>
            <a:pPr marL="202565" indent="-190500">
              <a:lnSpc>
                <a:spcPct val="100000"/>
              </a:lnSpc>
              <a:spcBef>
                <a:spcPts val="950"/>
              </a:spcBef>
              <a:buFont typeface="Arial MT"/>
              <a:buChar char="•"/>
              <a:tabLst>
                <a:tab pos="203200" algn="l"/>
              </a:tabLst>
            </a:pPr>
            <a:r>
              <a:rPr sz="2000" dirty="0">
                <a:cs typeface="Times New Roman"/>
              </a:rPr>
              <a:t>Introduction</a:t>
            </a:r>
          </a:p>
          <a:p>
            <a:pPr marL="202565" indent="-190500">
              <a:lnSpc>
                <a:spcPct val="100000"/>
              </a:lnSpc>
              <a:spcBef>
                <a:spcPts val="850"/>
              </a:spcBef>
              <a:buFont typeface="Arial MT"/>
              <a:buChar char="•"/>
              <a:tabLst>
                <a:tab pos="203200" algn="l"/>
              </a:tabLst>
            </a:pPr>
            <a:r>
              <a:rPr sz="2000" spc="-5" dirty="0">
                <a:cs typeface="Times New Roman"/>
              </a:rPr>
              <a:t>Need</a:t>
            </a:r>
            <a:r>
              <a:rPr sz="2000" spc="-35" dirty="0">
                <a:cs typeface="Times New Roman"/>
              </a:rPr>
              <a:t> </a:t>
            </a:r>
            <a:r>
              <a:rPr sz="2000" dirty="0">
                <a:cs typeface="Times New Roman"/>
              </a:rPr>
              <a:t>for</a:t>
            </a:r>
            <a:r>
              <a:rPr sz="2000" spc="-30" dirty="0">
                <a:cs typeface="Times New Roman"/>
              </a:rPr>
              <a:t> </a:t>
            </a:r>
            <a:r>
              <a:rPr sz="2000" dirty="0">
                <a:cs typeface="Times New Roman"/>
              </a:rPr>
              <a:t>project</a:t>
            </a:r>
          </a:p>
          <a:p>
            <a:pPr marL="202565" indent="-190500">
              <a:lnSpc>
                <a:spcPct val="100000"/>
              </a:lnSpc>
              <a:spcBef>
                <a:spcPts val="900"/>
              </a:spcBef>
              <a:buFont typeface="Arial MT"/>
              <a:buChar char="•"/>
              <a:tabLst>
                <a:tab pos="203200" algn="l"/>
              </a:tabLst>
            </a:pPr>
            <a:r>
              <a:rPr sz="2000" spc="-5" dirty="0">
                <a:cs typeface="Times New Roman"/>
              </a:rPr>
              <a:t>Problem</a:t>
            </a:r>
            <a:r>
              <a:rPr sz="2000" spc="-50" dirty="0">
                <a:cs typeface="Times New Roman"/>
              </a:rPr>
              <a:t> </a:t>
            </a:r>
            <a:r>
              <a:rPr sz="2000" spc="-5" dirty="0">
                <a:cs typeface="Times New Roman"/>
              </a:rPr>
              <a:t>Statement/Aim</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Objectives</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Literature</a:t>
            </a:r>
            <a:r>
              <a:rPr sz="2000" spc="-50" dirty="0">
                <a:cs typeface="Times New Roman"/>
              </a:rPr>
              <a:t> </a:t>
            </a:r>
            <a:r>
              <a:rPr sz="2000" spc="-5" dirty="0">
                <a:cs typeface="Times New Roman"/>
              </a:rPr>
              <a:t>Review</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Methodology/</a:t>
            </a:r>
            <a:r>
              <a:rPr sz="2000" spc="-35" dirty="0">
                <a:cs typeface="Times New Roman"/>
              </a:rPr>
              <a:t> </a:t>
            </a:r>
            <a:r>
              <a:rPr sz="2000" spc="-5" dirty="0">
                <a:cs typeface="Times New Roman"/>
              </a:rPr>
              <a:t>Flow</a:t>
            </a:r>
            <a:r>
              <a:rPr sz="2000" spc="-30" dirty="0">
                <a:cs typeface="Times New Roman"/>
              </a:rPr>
              <a:t> </a:t>
            </a:r>
            <a:r>
              <a:rPr sz="2000" spc="-5" dirty="0">
                <a:cs typeface="Times New Roman"/>
              </a:rPr>
              <a:t>chart</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Design</a:t>
            </a:r>
            <a:r>
              <a:rPr sz="2000" spc="-15" dirty="0">
                <a:cs typeface="Times New Roman"/>
              </a:rPr>
              <a:t> </a:t>
            </a:r>
            <a:r>
              <a:rPr sz="2000" dirty="0">
                <a:cs typeface="Times New Roman"/>
              </a:rPr>
              <a:t>of</a:t>
            </a:r>
            <a:r>
              <a:rPr sz="2000" spc="-5" dirty="0">
                <a:cs typeface="Times New Roman"/>
              </a:rPr>
              <a:t> Model</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Assembly</a:t>
            </a:r>
            <a:r>
              <a:rPr sz="2000" spc="-15" dirty="0">
                <a:cs typeface="Times New Roman"/>
              </a:rPr>
              <a:t> </a:t>
            </a:r>
            <a:r>
              <a:rPr sz="2000" spc="-5" dirty="0">
                <a:cs typeface="Times New Roman"/>
              </a:rPr>
              <a:t>and</a:t>
            </a:r>
            <a:r>
              <a:rPr sz="2000" spc="-10" dirty="0">
                <a:cs typeface="Times New Roman"/>
              </a:rPr>
              <a:t> </a:t>
            </a:r>
            <a:r>
              <a:rPr sz="2000" spc="-5" dirty="0">
                <a:cs typeface="Times New Roman"/>
              </a:rPr>
              <a:t>working</a:t>
            </a:r>
            <a:r>
              <a:rPr sz="2000" spc="-15" dirty="0">
                <a:cs typeface="Times New Roman"/>
              </a:rPr>
              <a:t> </a:t>
            </a:r>
            <a:r>
              <a:rPr sz="2000" dirty="0">
                <a:cs typeface="Times New Roman"/>
              </a:rPr>
              <a:t>of</a:t>
            </a:r>
            <a:r>
              <a:rPr sz="2000" spc="-5" dirty="0">
                <a:cs typeface="Times New Roman"/>
              </a:rPr>
              <a:t> Model</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Results</a:t>
            </a:r>
            <a:r>
              <a:rPr sz="2000" spc="-25" dirty="0">
                <a:cs typeface="Times New Roman"/>
              </a:rPr>
              <a:t> </a:t>
            </a:r>
            <a:r>
              <a:rPr sz="2000" dirty="0">
                <a:cs typeface="Times New Roman"/>
              </a:rPr>
              <a:t>of</a:t>
            </a:r>
            <a:r>
              <a:rPr sz="2000" spc="-15" dirty="0">
                <a:cs typeface="Times New Roman"/>
              </a:rPr>
              <a:t> </a:t>
            </a:r>
            <a:r>
              <a:rPr sz="2000" dirty="0">
                <a:cs typeface="Times New Roman"/>
              </a:rPr>
              <a:t>project</a:t>
            </a:r>
            <a:r>
              <a:rPr sz="2000" spc="-20" dirty="0">
                <a:cs typeface="Times New Roman"/>
              </a:rPr>
              <a:t> </a:t>
            </a:r>
            <a:r>
              <a:rPr sz="2000" spc="-5" dirty="0">
                <a:cs typeface="Times New Roman"/>
              </a:rPr>
              <a:t>and</a:t>
            </a:r>
            <a:r>
              <a:rPr sz="2000" spc="-20" dirty="0">
                <a:cs typeface="Times New Roman"/>
              </a:rPr>
              <a:t> </a:t>
            </a:r>
            <a:r>
              <a:rPr sz="2000" dirty="0">
                <a:cs typeface="Times New Roman"/>
              </a:rPr>
              <a:t>discussions</a:t>
            </a:r>
          </a:p>
          <a:p>
            <a:pPr marL="202565" indent="-190500">
              <a:lnSpc>
                <a:spcPct val="100000"/>
              </a:lnSpc>
              <a:spcBef>
                <a:spcPts val="900"/>
              </a:spcBef>
              <a:buFont typeface="Arial MT"/>
              <a:buChar char="•"/>
              <a:tabLst>
                <a:tab pos="203200" algn="l"/>
              </a:tabLst>
            </a:pPr>
            <a:r>
              <a:rPr sz="2000" spc="-5" dirty="0">
                <a:cs typeface="Times New Roman"/>
              </a:rPr>
              <a:t>Conclusion</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Future</a:t>
            </a:r>
            <a:r>
              <a:rPr sz="2000" spc="-50" dirty="0">
                <a:cs typeface="Times New Roman"/>
              </a:rPr>
              <a:t> </a:t>
            </a:r>
            <a:r>
              <a:rPr sz="2000" spc="-5" dirty="0">
                <a:cs typeface="Times New Roman"/>
              </a:rPr>
              <a:t>scope</a:t>
            </a:r>
            <a:endParaRPr sz="2000" dirty="0">
              <a:cs typeface="Times New Roman"/>
            </a:endParaRPr>
          </a:p>
          <a:p>
            <a:pPr marL="202565" indent="-190500">
              <a:lnSpc>
                <a:spcPct val="100000"/>
              </a:lnSpc>
              <a:spcBef>
                <a:spcPts val="900"/>
              </a:spcBef>
              <a:buFont typeface="Arial MT"/>
              <a:buChar char="•"/>
              <a:tabLst>
                <a:tab pos="203200" algn="l"/>
              </a:tabLst>
            </a:pPr>
            <a:r>
              <a:rPr sz="2000" spc="-5" dirty="0">
                <a:cs typeface="Times New Roman"/>
              </a:rPr>
              <a:t>References</a:t>
            </a:r>
            <a:endParaRPr sz="2000" dirty="0">
              <a:cs typeface="Times New Roman"/>
            </a:endParaRP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grpSp>
        <p:nvGrpSpPr>
          <p:cNvPr id="5" name="object 5"/>
          <p:cNvGrpSpPr/>
          <p:nvPr/>
        </p:nvGrpSpPr>
        <p:grpSpPr>
          <a:xfrm>
            <a:off x="493778" y="365125"/>
            <a:ext cx="10860405" cy="993775"/>
            <a:chOff x="493778" y="365125"/>
            <a:chExt cx="10860405" cy="993775"/>
          </a:xfrm>
        </p:grpSpPr>
        <p:pic>
          <p:nvPicPr>
            <p:cNvPr id="6" name="object 6"/>
            <p:cNvPicPr/>
            <p:nvPr/>
          </p:nvPicPr>
          <p:blipFill>
            <a:blip r:embed="rId2"/>
            <a:stretch>
              <a:fillRect/>
            </a:stretch>
          </p:blipFill>
          <p:spPr>
            <a:xfrm>
              <a:off x="493778" y="372587"/>
              <a:ext cx="10815574" cy="985727"/>
            </a:xfrm>
            <a:prstGeom prst="rect">
              <a:avLst/>
            </a:prstGeom>
          </p:spPr>
        </p:pic>
        <p:pic>
          <p:nvPicPr>
            <p:cNvPr id="7" name="object 7"/>
            <p:cNvPicPr/>
            <p:nvPr/>
          </p:nvPicPr>
          <p:blipFill>
            <a:blip r:embed="rId3"/>
            <a:stretch>
              <a:fillRect/>
            </a:stretch>
          </p:blipFill>
          <p:spPr>
            <a:xfrm>
              <a:off x="838200" y="365125"/>
              <a:ext cx="10515599" cy="685752"/>
            </a:xfrm>
            <a:prstGeom prst="rect">
              <a:avLst/>
            </a:prstGeom>
          </p:spPr>
        </p:pic>
        <p:pic>
          <p:nvPicPr>
            <p:cNvPr id="8" name="object 8"/>
            <p:cNvPicPr/>
            <p:nvPr/>
          </p:nvPicPr>
          <p:blipFill>
            <a:blip r:embed="rId2"/>
            <a:stretch>
              <a:fillRect/>
            </a:stretch>
          </p:blipFill>
          <p:spPr>
            <a:xfrm>
              <a:off x="493778" y="372587"/>
              <a:ext cx="10815574" cy="985727"/>
            </a:xfrm>
            <a:prstGeom prst="rect">
              <a:avLst/>
            </a:prstGeom>
          </p:spPr>
        </p:pic>
        <p:pic>
          <p:nvPicPr>
            <p:cNvPr id="9" name="object 9"/>
            <p:cNvPicPr/>
            <p:nvPr/>
          </p:nvPicPr>
          <p:blipFill>
            <a:blip r:embed="rId3"/>
            <a:stretch>
              <a:fillRect/>
            </a:stretch>
          </p:blipFill>
          <p:spPr>
            <a:xfrm>
              <a:off x="838200" y="365125"/>
              <a:ext cx="10515599" cy="685752"/>
            </a:xfrm>
            <a:prstGeom prst="rect">
              <a:avLst/>
            </a:prstGeom>
          </p:spPr>
        </p:pic>
      </p:grpSp>
      <p:sp>
        <p:nvSpPr>
          <p:cNvPr id="10" name="object 10"/>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gn="l">
              <a:lnSpc>
                <a:spcPct val="100000"/>
              </a:lnSpc>
              <a:spcBef>
                <a:spcPts val="100"/>
              </a:spcBef>
            </a:pPr>
            <a:r>
              <a:rPr lang="en-IN" b="1" dirty="0">
                <a:latin typeface="Arial Black" panose="020B0604020202020204" pitchFamily="34" charset="0"/>
                <a:cs typeface="Arial Black" panose="020B0604020202020204" pitchFamily="34" charset="0"/>
              </a:rPr>
              <a:t>CONTENTS</a:t>
            </a:r>
            <a:endParaRPr b="1" dirty="0">
              <a:latin typeface="Arial Black" panose="020B0604020202020204" pitchFamily="34" charset="0"/>
              <a:cs typeface="Arial Black" panose="020B0604020202020204" pitchFamily="34" charset="0"/>
            </a:endParaRPr>
          </a:p>
        </p:txBody>
      </p:sp>
      <p:sp>
        <p:nvSpPr>
          <p:cNvPr id="12" name="object 12"/>
          <p:cNvSpPr txBox="1">
            <a:spLocks noGrp="1"/>
          </p:cNvSpPr>
          <p:nvPr>
            <p:ph type="dt" sz="half" idx="6"/>
          </p:nvPr>
        </p:nvSpPr>
        <p:spPr>
          <a:xfrm>
            <a:off x="301057" y="6462098"/>
            <a:ext cx="736600" cy="179536"/>
          </a:xfrm>
          <a:prstGeom prst="rect">
            <a:avLst/>
          </a:prstGeom>
        </p:spPr>
        <p:txBody>
          <a:bodyPr vert="horz" wrap="square" lIns="0" tIns="0" rIns="0" bIns="0" rtlCol="0">
            <a:spAutoFit/>
          </a:bodyPr>
          <a:lstStyle/>
          <a:p>
            <a:pPr marL="12700">
              <a:lnSpc>
                <a:spcPts val="1410"/>
              </a:lnSpc>
            </a:pPr>
            <a:r>
              <a:rPr lang="en-IN" dirty="0"/>
              <a:t>19-04-2024</a:t>
            </a:r>
            <a:endParaRPr dirty="0"/>
          </a:p>
        </p:txBody>
      </p:sp>
      <p:sp>
        <p:nvSpPr>
          <p:cNvPr id="13" name="object 13"/>
          <p:cNvSpPr txBox="1">
            <a:spLocks noGrp="1"/>
          </p:cNvSpPr>
          <p:nvPr>
            <p:ph type="sldNum" sz="quarter" idx="7"/>
          </p:nvPr>
        </p:nvSpPr>
        <p:spPr>
          <a:xfrm>
            <a:off x="11573377" y="6471377"/>
            <a:ext cx="254000" cy="208250"/>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2</a:t>
            </a:fld>
            <a:endParaRPr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nSpc>
                <a:spcPct val="100000"/>
              </a:lnSpc>
              <a:spcBef>
                <a:spcPts val="100"/>
              </a:spcBef>
            </a:pPr>
            <a:r>
              <a:rPr spc="-5" dirty="0"/>
              <a:t>Introduction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pPr algn="ctr"/>
            <a:endParaRPr dirty="0"/>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3</a:t>
            </a:fld>
            <a:endParaRPr dirty="0"/>
          </a:p>
        </p:txBody>
      </p:sp>
      <p:sp>
        <p:nvSpPr>
          <p:cNvPr id="8" name="TextBox 7">
            <a:extLst>
              <a:ext uri="{FF2B5EF4-FFF2-40B4-BE49-F238E27FC236}">
                <a16:creationId xmlns:a16="http://schemas.microsoft.com/office/drawing/2014/main" id="{CF96633B-227C-4B85-9C57-33834333B64D}"/>
              </a:ext>
            </a:extLst>
          </p:cNvPr>
          <p:cNvSpPr txBox="1"/>
          <p:nvPr/>
        </p:nvSpPr>
        <p:spPr>
          <a:xfrm>
            <a:off x="911225" y="1981200"/>
            <a:ext cx="10662152" cy="369332"/>
          </a:xfrm>
          <a:prstGeom prst="rect">
            <a:avLst/>
          </a:prstGeom>
          <a:noFill/>
        </p:spPr>
        <p:txBody>
          <a:bodyPr wrap="square" rtlCol="0">
            <a:spAutoFit/>
          </a:bodyPr>
          <a:lstStyle/>
          <a:p>
            <a:endParaRPr lang="en-IN"/>
          </a:p>
        </p:txBody>
      </p:sp>
      <p:pic>
        <p:nvPicPr>
          <p:cNvPr id="2049" name="Picture 7005">
            <a:extLst>
              <a:ext uri="{FF2B5EF4-FFF2-40B4-BE49-F238E27FC236}">
                <a16:creationId xmlns:a16="http://schemas.microsoft.com/office/drawing/2014/main" id="{753D465C-44D2-4019-8166-883F65CD42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457200"/>
            <a:ext cx="7938" cy="793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a:extLst>
              <a:ext uri="{FF2B5EF4-FFF2-40B4-BE49-F238E27FC236}">
                <a16:creationId xmlns:a16="http://schemas.microsoft.com/office/drawing/2014/main" id="{1AE0D98F-C360-4D51-9AAB-B7D614F84BB9}"/>
              </a:ext>
            </a:extLst>
          </p:cNvPr>
          <p:cNvSpPr>
            <a:spLocks noChangeArrowheads="1"/>
          </p:cNvSpPr>
          <p:nvPr/>
        </p:nvSpPr>
        <p:spPr bwMode="auto">
          <a:xfrm>
            <a:off x="-10160" y="1777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5">
            <a:extLst>
              <a:ext uri="{FF2B5EF4-FFF2-40B4-BE49-F238E27FC236}">
                <a16:creationId xmlns:a16="http://schemas.microsoft.com/office/drawing/2014/main" id="{89861C16-344E-4A91-9FE8-6A596401456D}"/>
              </a:ext>
            </a:extLst>
          </p:cNvPr>
          <p:cNvSpPr>
            <a:spLocks noChangeArrowheads="1"/>
          </p:cNvSpPr>
          <p:nvPr/>
        </p:nvSpPr>
        <p:spPr bwMode="auto">
          <a:xfrm rot="10800000" flipV="1">
            <a:off x="911225" y="1659285"/>
            <a:ext cx="935778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90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6350"/>
            <a:br>
              <a:rPr lang="en-US" altLang="en-US" sz="2800" b="0" i="0" u="none" strike="noStrike" cap="none" normalizeH="0" baseline="0" dirty="0">
                <a:ln>
                  <a:noFill/>
                </a:ln>
                <a:effectLst/>
                <a:latin typeface="Arial" panose="020B0604020202020204" pitchFamily="34" charset="0"/>
                <a:ea typeface="Times New Roman" panose="02020603050405020304" pitchFamily="18" charset="0"/>
              </a:rPr>
            </a:b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Project on a Python-based voice assistant </a:t>
            </a:r>
            <a:r>
              <a:rPr kumimoji="0" lang="en-IN" altLang="en-US" sz="2800" b="0" i="0" u="none" strike="noStrike" cap="none" normalizeH="0" baseline="0" dirty="0">
                <a:ln>
                  <a:noFill/>
                </a:ln>
                <a:solidFill>
                  <a:srgbClr val="000000"/>
                </a:solidFill>
                <a:effectLst/>
                <a:latin typeface="Arial"/>
                <a:ea typeface="Times New Roman" panose="02020603050405020304" pitchFamily="18" charset="0"/>
              </a:rPr>
              <a:t>involves</a:t>
            </a: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 designing and building a voice-controlled assistant that can perform </a:t>
            </a:r>
            <a:r>
              <a:rPr lang="en-US" altLang="en-US" sz="2800" dirty="0">
                <a:solidFill>
                  <a:srgbClr val="000000"/>
                </a:solidFill>
                <a:latin typeface="Arial"/>
                <a:ea typeface="Times New Roman" panose="02020603050405020304" pitchFamily="18" charset="0"/>
              </a:rPr>
              <a:t>basic tasks</a:t>
            </a: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 based on user commands</a:t>
            </a:r>
            <a:r>
              <a:rPr lang="en-US" altLang="en-US" sz="2800" dirty="0">
                <a:solidFill>
                  <a:srgbClr val="000000"/>
                </a:solidFill>
                <a:latin typeface="Arial"/>
                <a:ea typeface="Times New Roman" panose="02020603050405020304" pitchFamily="18" charset="0"/>
              </a:rPr>
              <a:t> as it is free of source</a:t>
            </a: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 The goal of the project </a:t>
            </a:r>
            <a:r>
              <a:rPr lang="en-IN" altLang="en-US" sz="2800" dirty="0">
                <a:solidFill>
                  <a:srgbClr val="000000"/>
                </a:solidFill>
                <a:latin typeface="Arial"/>
                <a:ea typeface="Times New Roman" panose="02020603050405020304" pitchFamily="18" charset="0"/>
              </a:rPr>
              <a:t>is</a:t>
            </a: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 to develop an assistant that can understand natural language input, process it using various Python libraries</a:t>
            </a:r>
            <a:r>
              <a:rPr kumimoji="0" lang="en-IN" altLang="en-US" sz="2800" b="0" i="0" u="none" strike="noStrike" cap="none" normalizeH="0" baseline="0" dirty="0">
                <a:ln>
                  <a:noFill/>
                </a:ln>
                <a:solidFill>
                  <a:srgbClr val="000000"/>
                </a:solidFill>
                <a:effectLst/>
                <a:latin typeface="Arial"/>
                <a:ea typeface="Times New Roman" panose="02020603050405020304" pitchFamily="18" charset="0"/>
              </a:rPr>
              <a:t>,</a:t>
            </a:r>
            <a:r>
              <a:rPr kumimoji="0" lang="en-US" altLang="en-US" sz="2800" b="0" i="0" u="none" strike="noStrike" cap="none" normalizeH="0" baseline="0" dirty="0">
                <a:ln>
                  <a:noFill/>
                </a:ln>
                <a:solidFill>
                  <a:srgbClr val="000000"/>
                </a:solidFill>
                <a:effectLst/>
                <a:latin typeface="Arial"/>
                <a:ea typeface="Times New Roman" panose="02020603050405020304" pitchFamily="18" charset="0"/>
              </a:rPr>
              <a:t> and respond with appropriate output.</a:t>
            </a:r>
            <a:endParaRPr kumimoji="0" lang="en-US" altLang="en-US" sz="2800" b="0" i="0" u="none" strike="noStrike" cap="none" normalizeH="0" baseline="0" dirty="0">
              <a:ln>
                <a:noFill/>
              </a:ln>
              <a:solidFill>
                <a:schemeClr val="tx1"/>
              </a:solidFill>
              <a:effectLst/>
              <a:latin typeface="Aria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4333875" cy="513080"/>
          </a:xfrm>
          <a:prstGeom prst="rect">
            <a:avLst/>
          </a:prstGeom>
        </p:spPr>
        <p:txBody>
          <a:bodyPr vert="horz" wrap="square" lIns="0" tIns="12700" rIns="0" bIns="0" rtlCol="0">
            <a:spAutoFit/>
          </a:bodyPr>
          <a:lstStyle/>
          <a:p>
            <a:pPr marL="12700">
              <a:lnSpc>
                <a:spcPct val="100000"/>
              </a:lnSpc>
              <a:spcBef>
                <a:spcPts val="100"/>
              </a:spcBef>
            </a:pPr>
            <a:r>
              <a:rPr spc="-5" dirty="0"/>
              <a:t>Need</a:t>
            </a:r>
            <a:r>
              <a:rPr spc="-35" dirty="0"/>
              <a:t> </a:t>
            </a:r>
            <a:r>
              <a:rPr spc="-5" dirty="0"/>
              <a:t>of</a:t>
            </a:r>
            <a:r>
              <a:rPr spc="-35" dirty="0"/>
              <a:t> </a:t>
            </a:r>
            <a:r>
              <a:rPr spc="-10" dirty="0"/>
              <a:t>the</a:t>
            </a:r>
            <a:r>
              <a:rPr spc="-40" dirty="0"/>
              <a:t> </a:t>
            </a:r>
            <a:r>
              <a:rPr spc="-5" dirty="0"/>
              <a:t>Project</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a:pPr marL="38100" algn="ctr">
                <a:lnSpc>
                  <a:spcPts val="1630"/>
                </a:lnSpc>
              </a:pPr>
              <a:t>4</a:t>
            </a:fld>
            <a:endParaRPr dirty="0"/>
          </a:p>
        </p:txBody>
      </p:sp>
      <p:sp>
        <p:nvSpPr>
          <p:cNvPr id="8" name="TextBox 7">
            <a:extLst>
              <a:ext uri="{FF2B5EF4-FFF2-40B4-BE49-F238E27FC236}">
                <a16:creationId xmlns:a16="http://schemas.microsoft.com/office/drawing/2014/main" id="{2DD05696-71FF-424C-AA0C-62B958AC97B8}"/>
              </a:ext>
            </a:extLst>
          </p:cNvPr>
          <p:cNvSpPr txBox="1"/>
          <p:nvPr/>
        </p:nvSpPr>
        <p:spPr>
          <a:xfrm>
            <a:off x="597460" y="1318347"/>
            <a:ext cx="10916152" cy="4247317"/>
          </a:xfrm>
          <a:prstGeom prst="rect">
            <a:avLst/>
          </a:prstGeom>
          <a:noFill/>
        </p:spPr>
        <p:txBody>
          <a:bodyPr wrap="square" lIns="91440" tIns="45720" rIns="91440" bIns="45720" rtlCol="0" anchor="t">
            <a:spAutoFit/>
          </a:bodyPr>
          <a:lstStyle/>
          <a:p>
            <a:r>
              <a:rPr lang="en-US" b="1" dirty="0"/>
              <a:t>What is the need of this project ?</a:t>
            </a:r>
          </a:p>
          <a:p>
            <a:r>
              <a:rPr lang="en-US" b="1" dirty="0"/>
              <a:t>Why we design this project ?</a:t>
            </a:r>
          </a:p>
          <a:p>
            <a:r>
              <a:rPr lang="en-US" b="1" dirty="0"/>
              <a:t>There are several reasons why there is a need for voice assistants in today's world. Here are a few   </a:t>
            </a:r>
            <a:r>
              <a:rPr lang="en-US" dirty="0"/>
              <a:t>:</a:t>
            </a:r>
          </a:p>
          <a:p>
            <a:endParaRPr lang="en-US" i="1" u="sng" dirty="0"/>
          </a:p>
          <a:p>
            <a:r>
              <a:rPr lang="en-US" i="1" u="sng" dirty="0"/>
              <a:t>Convenience</a:t>
            </a:r>
            <a:r>
              <a:rPr lang="en-US" dirty="0"/>
              <a:t>: Voice assistants allow users to interact with technology hands-free, making tasks more convenient and efficient. Users can ask for temperature, current news, play music, and control smart devices, among other tasks, without having to physically interact with their devices</a:t>
            </a:r>
          </a:p>
          <a:p>
            <a:endParaRPr lang="en-US" i="1" u="sng" dirty="0"/>
          </a:p>
          <a:p>
            <a:r>
              <a:rPr lang="en-US" i="1" u="sng" dirty="0"/>
              <a:t>Personalization</a:t>
            </a:r>
            <a:r>
              <a:rPr lang="en-US" dirty="0"/>
              <a:t>: Voice assistants can learn about a user's preferences and behavior patterns, allowing them to provide personalized recommendations and suggestions. This can help users save time and make their lives easier.</a:t>
            </a:r>
          </a:p>
          <a:p>
            <a:endParaRPr lang="en-US" dirty="0"/>
          </a:p>
          <a:p>
            <a:r>
              <a:rPr lang="en-US" i="1" u="sng" dirty="0"/>
              <a:t>Efficiency</a:t>
            </a:r>
            <a:r>
              <a:rPr lang="en-US" dirty="0"/>
              <a:t>: Voice assistants can complete tasks quickly and accurately, reducing the time and effort required by the user. For example, a user can ask a voice assistant to set a reminder, for specific task, which can be done much faster than if they had to do it manually.  Overall, the need for voice assistants is driven by the desire for convenience, accessibility, personalization, and efficiency.</a:t>
            </a:r>
            <a:endParaRPr lang="en-IN"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89D2855-5D77-44BF-9D96-6DEC965BE1A6}"/>
              </a:ext>
            </a:extLst>
          </p:cNvPr>
          <p:cNvSpPr>
            <a:spLocks noGrp="1"/>
          </p:cNvSpPr>
          <p:nvPr>
            <p:ph type="title"/>
          </p:nvPr>
        </p:nvSpPr>
        <p:spPr>
          <a:xfrm>
            <a:off x="911225" y="420956"/>
            <a:ext cx="10369550" cy="984885"/>
          </a:xfrm>
        </p:spPr>
        <p:txBody>
          <a:bodyPr/>
          <a:lstStyle/>
          <a:p>
            <a:r>
              <a:rPr lang="en-IN" sz="3200" b="1" spc="-5" dirty="0">
                <a:latin typeface="Arial Black" panose="020B0604020202020204" pitchFamily="34" charset="0"/>
                <a:cs typeface="Arial Black" panose="020B0604020202020204" pitchFamily="34" charset="0"/>
              </a:rPr>
              <a:t>Problem</a:t>
            </a:r>
            <a:r>
              <a:rPr lang="en-IN" sz="3200" b="1" spc="-50" dirty="0">
                <a:latin typeface="Arial Black" panose="020B0604020202020204" pitchFamily="34" charset="0"/>
                <a:cs typeface="Arial Black" panose="020B0604020202020204" pitchFamily="34" charset="0"/>
              </a:rPr>
              <a:t> </a:t>
            </a:r>
            <a:r>
              <a:rPr lang="en-IN" sz="3200" b="1" spc="-5" dirty="0">
                <a:latin typeface="Arial Black" panose="020B0604020202020204" pitchFamily="34" charset="0"/>
                <a:cs typeface="Arial Black" panose="020B0604020202020204" pitchFamily="34" charset="0"/>
              </a:rPr>
              <a:t>Statement/Aim</a:t>
            </a:r>
            <a:br>
              <a:rPr lang="en-IN" sz="3200" dirty="0">
                <a:latin typeface="Times New Roman"/>
                <a:cs typeface="Times New Roman"/>
              </a:rPr>
            </a:br>
            <a:endParaRPr lang="en-IN" dirty="0"/>
          </a:p>
        </p:txBody>
      </p:sp>
      <p:sp>
        <p:nvSpPr>
          <p:cNvPr id="14" name="TextBox 13">
            <a:extLst>
              <a:ext uri="{FF2B5EF4-FFF2-40B4-BE49-F238E27FC236}">
                <a16:creationId xmlns:a16="http://schemas.microsoft.com/office/drawing/2014/main" id="{2744C40A-4D4E-4F2F-AB46-6485B2E91CCA}"/>
              </a:ext>
            </a:extLst>
          </p:cNvPr>
          <p:cNvSpPr txBox="1"/>
          <p:nvPr/>
        </p:nvSpPr>
        <p:spPr>
          <a:xfrm>
            <a:off x="457200" y="1405840"/>
            <a:ext cx="11506200" cy="4524315"/>
          </a:xfrm>
          <a:prstGeom prst="rect">
            <a:avLst/>
          </a:prstGeom>
          <a:noFill/>
        </p:spPr>
        <p:txBody>
          <a:bodyPr wrap="square" rtlCol="0">
            <a:spAutoFit/>
          </a:bodyPr>
          <a:lstStyle/>
          <a:p>
            <a:r>
              <a:rPr lang="en-US" sz="3600" dirty="0"/>
              <a:t>            W</a:t>
            </a:r>
            <a:r>
              <a:rPr lang="en-IN" sz="3600" dirty="0"/>
              <a:t>e all are </a:t>
            </a:r>
            <a:r>
              <a:rPr lang="en-US" sz="3600" dirty="0"/>
              <a:t>well aware about Siri, Google Assistant and many other virtual assistants which are designed to aid the tasks of users in Windows, Android and iOS platforms. But to our aim is to know how these things actually work.</a:t>
            </a:r>
          </a:p>
          <a:p>
            <a:endParaRPr lang="en-US" sz="3600" dirty="0"/>
          </a:p>
          <a:p>
            <a:r>
              <a:rPr lang="en-US" sz="3600" dirty="0"/>
              <a:t>             It looks very fascinating how these application works and we aspire to tell everyone how using some coding knowledge these can be developed.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395855" cy="513080"/>
          </a:xfrm>
          <a:prstGeom prst="rect">
            <a:avLst/>
          </a:prstGeom>
        </p:spPr>
        <p:txBody>
          <a:bodyPr vert="horz" wrap="square" lIns="0" tIns="12700" rIns="0" bIns="0" rtlCol="0">
            <a:spAutoFit/>
          </a:bodyPr>
          <a:lstStyle/>
          <a:p>
            <a:pPr marL="12700">
              <a:lnSpc>
                <a:spcPct val="100000"/>
              </a:lnSpc>
              <a:spcBef>
                <a:spcPts val="100"/>
              </a:spcBef>
            </a:pPr>
            <a:r>
              <a:t>Objectives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6</a:t>
            </a:fld>
            <a:endParaRPr/>
          </a:p>
        </p:txBody>
      </p:sp>
      <p:sp>
        <p:nvSpPr>
          <p:cNvPr id="8" name="TextBox 7">
            <a:extLst>
              <a:ext uri="{FF2B5EF4-FFF2-40B4-BE49-F238E27FC236}">
                <a16:creationId xmlns:a16="http://schemas.microsoft.com/office/drawing/2014/main" id="{AC5979A6-7589-4C3F-92A5-FB0CFDC50E27}"/>
              </a:ext>
            </a:extLst>
          </p:cNvPr>
          <p:cNvSpPr txBox="1"/>
          <p:nvPr/>
        </p:nvSpPr>
        <p:spPr>
          <a:xfrm>
            <a:off x="609600" y="1443841"/>
            <a:ext cx="10963777" cy="3970318"/>
          </a:xfrm>
          <a:prstGeom prst="rect">
            <a:avLst/>
          </a:prstGeom>
          <a:noFill/>
        </p:spPr>
        <p:txBody>
          <a:bodyPr wrap="square" lIns="91440" tIns="45720" rIns="91440" bIns="45720" rtlCol="0" anchor="t">
            <a:spAutoFit/>
          </a:bodyPr>
          <a:lstStyle/>
          <a:p>
            <a:r>
              <a:rPr lang="en-IN" sz="2800" dirty="0"/>
              <a:t>1) </a:t>
            </a:r>
            <a:r>
              <a:rPr lang="en-US" sz="2800" dirty="0"/>
              <a:t>It keeps listening continuously in inaction and wakes up into action when called with a particular predetermined functionality.</a:t>
            </a:r>
          </a:p>
          <a:p>
            <a:endParaRPr lang="en-US" sz="2800" dirty="0"/>
          </a:p>
          <a:p>
            <a:r>
              <a:rPr lang="en-US" sz="2800" dirty="0"/>
              <a:t>2) Browsing through the web based on the individual’s spoken parameters and then issuing a desired output through audio and at the same time it will print the output on the screen. Other useful services such as playing kind of news, browsing weather forecasts, play music, reminders, shut down computer, sending an Email etc. Are provided as a result of spoken commands.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60405" cy="993775"/>
            <a:chOff x="493778" y="365125"/>
            <a:chExt cx="10860405" cy="993775"/>
          </a:xfrm>
        </p:grpSpPr>
        <p:pic>
          <p:nvPicPr>
            <p:cNvPr id="3" name="object 3"/>
            <p:cNvPicPr/>
            <p:nvPr/>
          </p:nvPicPr>
          <p:blipFill>
            <a:blip r:embed="rId2"/>
            <a:stretch>
              <a:fillRect/>
            </a:stretch>
          </p:blipFill>
          <p:spPr>
            <a:xfrm>
              <a:off x="493778" y="372587"/>
              <a:ext cx="10815574" cy="985727"/>
            </a:xfrm>
            <a:prstGeom prst="rect">
              <a:avLst/>
            </a:prstGeom>
          </p:spPr>
        </p:pic>
        <p:pic>
          <p:nvPicPr>
            <p:cNvPr id="4" name="object 4"/>
            <p:cNvPicPr/>
            <p:nvPr/>
          </p:nvPicPr>
          <p:blipFill>
            <a:blip r:embed="rId3"/>
            <a:stretch>
              <a:fillRect/>
            </a:stretch>
          </p:blipFill>
          <p:spPr>
            <a:xfrm>
              <a:off x="838200" y="365125"/>
              <a:ext cx="10515599" cy="685752"/>
            </a:xfrm>
            <a:prstGeom prst="rect">
              <a:avLst/>
            </a:prstGeom>
          </p:spPr>
        </p:pic>
      </p:grpSp>
      <p:sp>
        <p:nvSpPr>
          <p:cNvPr id="5" name="object 5"/>
          <p:cNvSpPr txBox="1">
            <a:spLocks noGrp="1"/>
          </p:cNvSpPr>
          <p:nvPr>
            <p:ph type="title"/>
          </p:nvPr>
        </p:nvSpPr>
        <p:spPr>
          <a:xfrm>
            <a:off x="911225" y="420956"/>
            <a:ext cx="3988435" cy="513080"/>
          </a:xfrm>
          <a:prstGeom prst="rect">
            <a:avLst/>
          </a:prstGeom>
        </p:spPr>
        <p:txBody>
          <a:bodyPr vert="horz" wrap="square" lIns="0" tIns="12700" rIns="0" bIns="0" rtlCol="0">
            <a:spAutoFit/>
          </a:bodyPr>
          <a:lstStyle/>
          <a:p>
            <a:pPr marL="12700">
              <a:lnSpc>
                <a:spcPct val="100000"/>
              </a:lnSpc>
              <a:spcBef>
                <a:spcPts val="100"/>
              </a:spcBef>
            </a:pPr>
            <a:r>
              <a:rPr spc="-10"/>
              <a:t>Literature</a:t>
            </a:r>
            <a:r>
              <a:rPr spc="-90"/>
              <a:t> </a:t>
            </a:r>
            <a:r>
              <a:rPr spc="-5"/>
              <a:t>Review</a:t>
            </a:r>
          </a:p>
        </p:txBody>
      </p:sp>
      <p:sp>
        <p:nvSpPr>
          <p:cNvPr id="8" name="object 8"/>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7</a:t>
            </a:fld>
            <a:endParaRPr/>
          </a:p>
        </p:txBody>
      </p:sp>
      <p:graphicFrame>
        <p:nvGraphicFramePr>
          <p:cNvPr id="6" name="Table 12">
            <a:extLst>
              <a:ext uri="{FF2B5EF4-FFF2-40B4-BE49-F238E27FC236}">
                <a16:creationId xmlns:a16="http://schemas.microsoft.com/office/drawing/2014/main" id="{A3C5DB05-DE87-68F8-FE48-BFCFACDA9EBF}"/>
              </a:ext>
            </a:extLst>
          </p:cNvPr>
          <p:cNvGraphicFramePr>
            <a:graphicFrameLocks noGrp="1"/>
          </p:cNvGraphicFramePr>
          <p:nvPr>
            <p:extLst>
              <p:ext uri="{D42A27DB-BD31-4B8C-83A1-F6EECF244321}">
                <p14:modId xmlns:p14="http://schemas.microsoft.com/office/powerpoint/2010/main" val="3595826458"/>
              </p:ext>
            </p:extLst>
          </p:nvPr>
        </p:nvGraphicFramePr>
        <p:xfrm>
          <a:off x="1332844" y="1349211"/>
          <a:ext cx="9753599" cy="5030114"/>
        </p:xfrm>
        <a:graphic>
          <a:graphicData uri="http://schemas.openxmlformats.org/drawingml/2006/table">
            <a:tbl>
              <a:tblPr firstRow="1" bandRow="1">
                <a:tableStyleId>{93296810-A885-4BE3-A3E7-6D5BEEA58F35}</a:tableStyleId>
              </a:tblPr>
              <a:tblGrid>
                <a:gridCol w="1123939">
                  <a:extLst>
                    <a:ext uri="{9D8B030D-6E8A-4147-A177-3AD203B41FA5}">
                      <a16:colId xmlns:a16="http://schemas.microsoft.com/office/drawing/2014/main" val="709903393"/>
                    </a:ext>
                  </a:extLst>
                </a:gridCol>
                <a:gridCol w="2514600">
                  <a:extLst>
                    <a:ext uri="{9D8B030D-6E8A-4147-A177-3AD203B41FA5}">
                      <a16:colId xmlns:a16="http://schemas.microsoft.com/office/drawing/2014/main" val="1323876836"/>
                    </a:ext>
                  </a:extLst>
                </a:gridCol>
                <a:gridCol w="2971800">
                  <a:extLst>
                    <a:ext uri="{9D8B030D-6E8A-4147-A177-3AD203B41FA5}">
                      <a16:colId xmlns:a16="http://schemas.microsoft.com/office/drawing/2014/main" val="1265926789"/>
                    </a:ext>
                  </a:extLst>
                </a:gridCol>
                <a:gridCol w="3143260">
                  <a:extLst>
                    <a:ext uri="{9D8B030D-6E8A-4147-A177-3AD203B41FA5}">
                      <a16:colId xmlns:a16="http://schemas.microsoft.com/office/drawing/2014/main" val="2321389108"/>
                    </a:ext>
                  </a:extLst>
                </a:gridCol>
              </a:tblGrid>
              <a:tr h="735084">
                <a:tc>
                  <a:txBody>
                    <a:bodyPr/>
                    <a:lstStyle/>
                    <a:p>
                      <a:pPr marL="184785" marR="173990" indent="-3175">
                        <a:lnSpc>
                          <a:spcPct val="100699"/>
                        </a:lnSpc>
                        <a:spcBef>
                          <a:spcPts val="210"/>
                        </a:spcBef>
                      </a:pPr>
                      <a:r>
                        <a:rPr sz="1800" b="1" spc="-5">
                          <a:latin typeface="Times New Roman"/>
                          <a:cs typeface="Times New Roman"/>
                        </a:rPr>
                        <a:t>Sr.  No</a:t>
                      </a:r>
                      <a:endParaRPr sz="1800">
                        <a:latin typeface="Times New Roman"/>
                        <a:cs typeface="Times New Roman"/>
                      </a:endParaRPr>
                    </a:p>
                  </a:txBody>
                  <a:tcPr marL="0" marR="0" marT="26670" marB="0"/>
                </a:tc>
                <a:tc>
                  <a:txBody>
                    <a:bodyPr/>
                    <a:lstStyle/>
                    <a:p>
                      <a:pPr marL="343535">
                        <a:lnSpc>
                          <a:spcPct val="100000"/>
                        </a:lnSpc>
                        <a:spcBef>
                          <a:spcPts val="225"/>
                        </a:spcBef>
                      </a:pPr>
                      <a:r>
                        <a:rPr sz="1800" b="1" spc="-5">
                          <a:latin typeface="Times New Roman"/>
                          <a:cs typeface="Times New Roman"/>
                        </a:rPr>
                        <a:t>Authors</a:t>
                      </a:r>
                      <a:endParaRPr sz="1800">
                        <a:latin typeface="Times New Roman"/>
                        <a:cs typeface="Times New Roman"/>
                      </a:endParaRPr>
                    </a:p>
                  </a:txBody>
                  <a:tcPr marL="0" marR="0" marT="28575" marB="0"/>
                </a:tc>
                <a:tc>
                  <a:txBody>
                    <a:bodyPr/>
                    <a:lstStyle/>
                    <a:p>
                      <a:pPr marL="851535">
                        <a:lnSpc>
                          <a:spcPct val="100000"/>
                        </a:lnSpc>
                        <a:spcBef>
                          <a:spcPts val="225"/>
                        </a:spcBef>
                      </a:pPr>
                      <a:r>
                        <a:rPr sz="1800" b="1" spc="-5">
                          <a:latin typeface="Times New Roman"/>
                          <a:cs typeface="Times New Roman"/>
                        </a:rPr>
                        <a:t>Name</a:t>
                      </a:r>
                      <a:r>
                        <a:rPr sz="1800" b="1" spc="-35">
                          <a:latin typeface="Times New Roman"/>
                          <a:cs typeface="Times New Roman"/>
                        </a:rPr>
                        <a:t> </a:t>
                      </a:r>
                      <a:r>
                        <a:rPr sz="1800" b="1">
                          <a:latin typeface="Times New Roman"/>
                          <a:cs typeface="Times New Roman"/>
                        </a:rPr>
                        <a:t>of</a:t>
                      </a:r>
                      <a:r>
                        <a:rPr sz="1800" b="1" spc="-30">
                          <a:latin typeface="Times New Roman"/>
                          <a:cs typeface="Times New Roman"/>
                        </a:rPr>
                        <a:t> </a:t>
                      </a:r>
                      <a:r>
                        <a:rPr sz="1800" b="1" spc="-5">
                          <a:latin typeface="Times New Roman"/>
                          <a:cs typeface="Times New Roman"/>
                        </a:rPr>
                        <a:t>Topic</a:t>
                      </a:r>
                      <a:endParaRPr sz="1800">
                        <a:latin typeface="Times New Roman"/>
                        <a:cs typeface="Times New Roman"/>
                      </a:endParaRPr>
                    </a:p>
                  </a:txBody>
                  <a:tcPr marL="0" marR="0" marT="28575" marB="0"/>
                </a:tc>
                <a:tc>
                  <a:txBody>
                    <a:bodyPr/>
                    <a:lstStyle/>
                    <a:p>
                      <a:pPr algn="ctr">
                        <a:lnSpc>
                          <a:spcPct val="100000"/>
                        </a:lnSpc>
                        <a:spcBef>
                          <a:spcPts val="225"/>
                        </a:spcBef>
                      </a:pPr>
                      <a:r>
                        <a:rPr sz="1800" b="1" spc="-5">
                          <a:latin typeface="Times New Roman"/>
                          <a:cs typeface="Times New Roman"/>
                        </a:rPr>
                        <a:t>Major</a:t>
                      </a:r>
                      <a:r>
                        <a:rPr sz="1800" b="1" spc="-50">
                          <a:latin typeface="Times New Roman"/>
                          <a:cs typeface="Times New Roman"/>
                        </a:rPr>
                        <a:t> </a:t>
                      </a:r>
                      <a:r>
                        <a:rPr sz="1800" b="1" spc="-5">
                          <a:latin typeface="Times New Roman"/>
                          <a:cs typeface="Times New Roman"/>
                        </a:rPr>
                        <a:t>Findings</a:t>
                      </a:r>
                      <a:endParaRPr sz="1800">
                        <a:latin typeface="Times New Roman"/>
                        <a:cs typeface="Times New Roman"/>
                      </a:endParaRPr>
                    </a:p>
                  </a:txBody>
                  <a:tcPr marL="0" marR="0" marT="28575" marB="0"/>
                </a:tc>
                <a:extLst>
                  <a:ext uri="{0D108BD9-81ED-4DB2-BD59-A6C34878D82A}">
                    <a16:rowId xmlns:a16="http://schemas.microsoft.com/office/drawing/2014/main" val="2220920200"/>
                  </a:ext>
                </a:extLst>
              </a:tr>
              <a:tr h="1145341">
                <a:tc>
                  <a:txBody>
                    <a:bodyPr/>
                    <a:lstStyle/>
                    <a:p>
                      <a:pPr marR="259715" algn="r">
                        <a:lnSpc>
                          <a:spcPct val="100000"/>
                        </a:lnSpc>
                        <a:spcBef>
                          <a:spcPts val="225"/>
                        </a:spcBef>
                      </a:pPr>
                      <a:r>
                        <a:rPr sz="1800">
                          <a:latin typeface="Times New Roman"/>
                          <a:cs typeface="Times New Roman"/>
                        </a:rPr>
                        <a:t>1</a:t>
                      </a:r>
                    </a:p>
                  </a:txBody>
                  <a:tcPr marL="0" marR="0" marT="28575" marB="0"/>
                </a:tc>
                <a:tc>
                  <a:txBody>
                    <a:bodyPr/>
                    <a:lstStyle/>
                    <a:p>
                      <a:pPr>
                        <a:lnSpc>
                          <a:spcPct val="100000"/>
                        </a:lnSpc>
                      </a:pPr>
                      <a:r>
                        <a:rPr lang="en-IN" sz="1800">
                          <a:latin typeface="Times New Roman"/>
                          <a:cs typeface="Times New Roman"/>
                        </a:rPr>
                        <a:t>Sowmya Vajjala. &amp;</a:t>
                      </a:r>
                    </a:p>
                    <a:p>
                      <a:pPr>
                        <a:lnSpc>
                          <a:spcPct val="100000"/>
                        </a:lnSpc>
                      </a:pPr>
                      <a:r>
                        <a:rPr lang="en-IN" sz="1800">
                          <a:latin typeface="Times New Roman"/>
                          <a:cs typeface="Times New Roman"/>
                        </a:rPr>
                        <a:t>Anuj Gupta.</a:t>
                      </a:r>
                      <a:endParaRPr sz="1800">
                        <a:latin typeface="Times New Roman"/>
                        <a:cs typeface="Times New Roman"/>
                      </a:endParaRPr>
                    </a:p>
                  </a:txBody>
                  <a:tcPr marL="0" marR="0" marT="0" marB="0"/>
                </a:tc>
                <a:tc>
                  <a:txBody>
                    <a:bodyPr/>
                    <a:lstStyle/>
                    <a:p>
                      <a:pPr>
                        <a:lnSpc>
                          <a:spcPct val="100000"/>
                        </a:lnSpc>
                      </a:pPr>
                      <a:r>
                        <a:rPr lang="en-US" sz="1900">
                          <a:latin typeface="Times New Roman"/>
                          <a:cs typeface="Times New Roman"/>
                        </a:rPr>
                        <a:t>“Practical natural Language Processing”</a:t>
                      </a:r>
                    </a:p>
                  </a:txBody>
                  <a:tcPr marL="0" marR="0" marT="0" marB="0"/>
                </a:tc>
                <a:tc>
                  <a:txBody>
                    <a:bodyPr/>
                    <a:lstStyle/>
                    <a:p>
                      <a:pPr>
                        <a:lnSpc>
                          <a:spcPct val="100000"/>
                        </a:lnSpc>
                      </a:pPr>
                      <a:r>
                        <a:rPr lang="en-IN" sz="1900">
                          <a:latin typeface="Times New Roman"/>
                          <a:cs typeface="Times New Roman"/>
                        </a:rPr>
                        <a:t>A Comprehensive Guide to build Real-World</a:t>
                      </a:r>
                    </a:p>
                    <a:p>
                      <a:pPr>
                        <a:lnSpc>
                          <a:spcPct val="100000"/>
                        </a:lnSpc>
                      </a:pPr>
                      <a:r>
                        <a:rPr lang="en-IN" sz="1900">
                          <a:latin typeface="Times New Roman"/>
                          <a:cs typeface="Times New Roman"/>
                        </a:rPr>
                        <a:t>NLP Systems</a:t>
                      </a:r>
                      <a:endParaRPr sz="1900">
                        <a:latin typeface="Times New Roman"/>
                        <a:cs typeface="Times New Roman"/>
                      </a:endParaRPr>
                    </a:p>
                  </a:txBody>
                  <a:tcPr marL="0" marR="0" marT="0" marB="0"/>
                </a:tc>
                <a:extLst>
                  <a:ext uri="{0D108BD9-81ED-4DB2-BD59-A6C34878D82A}">
                    <a16:rowId xmlns:a16="http://schemas.microsoft.com/office/drawing/2014/main" val="1037639534"/>
                  </a:ext>
                </a:extLst>
              </a:tr>
              <a:tr h="2290683">
                <a:tc>
                  <a:txBody>
                    <a:bodyPr/>
                    <a:lstStyle/>
                    <a:p>
                      <a:pPr marR="259715" algn="r">
                        <a:lnSpc>
                          <a:spcPct val="100000"/>
                        </a:lnSpc>
                        <a:spcBef>
                          <a:spcPts val="225"/>
                        </a:spcBef>
                      </a:pPr>
                      <a:r>
                        <a:rPr sz="1800">
                          <a:latin typeface="Times New Roman"/>
                          <a:cs typeface="Times New Roman"/>
                        </a:rPr>
                        <a:t>2</a:t>
                      </a:r>
                    </a:p>
                  </a:txBody>
                  <a:tcPr marL="0" marR="0" marT="28575" marB="0"/>
                </a:tc>
                <a:tc>
                  <a:txBody>
                    <a:bodyPr/>
                    <a:lstStyle/>
                    <a:p>
                      <a:pPr>
                        <a:lnSpc>
                          <a:spcPct val="100000"/>
                        </a:lnSpc>
                      </a:pPr>
                      <a:endParaRPr lang="en-IN" sz="1900">
                        <a:latin typeface="Times New Roman"/>
                        <a:cs typeface="Times New Roman"/>
                      </a:endParaRPr>
                    </a:p>
                    <a:p>
                      <a:pPr>
                        <a:lnSpc>
                          <a:spcPct val="100000"/>
                        </a:lnSpc>
                      </a:pPr>
                      <a:r>
                        <a:rPr lang="en-IN" sz="1900" err="1">
                          <a:latin typeface="Times New Roman"/>
                          <a:cs typeface="Times New Roman"/>
                        </a:rPr>
                        <a:t>Jalaj Thanali.</a:t>
                      </a:r>
                      <a:endParaRPr sz="2000">
                        <a:latin typeface="Times New Roman"/>
                        <a:cs typeface="Times New Roman"/>
                      </a:endParaRPr>
                    </a:p>
                  </a:txBody>
                  <a:tcPr marL="0" marR="0" marT="0" marB="0"/>
                </a:tc>
                <a:tc>
                  <a:txBody>
                    <a:bodyPr/>
                    <a:lstStyle/>
                    <a:p>
                      <a:pPr>
                        <a:lnSpc>
                          <a:spcPct val="100000"/>
                        </a:lnSpc>
                      </a:pPr>
                      <a:r>
                        <a:rPr lang="en-IN" sz="1900">
                          <a:latin typeface="Times New Roman"/>
                          <a:cs typeface="Times New Roman"/>
                        </a:rPr>
                        <a:t>“Python Natural Language   Processing”</a:t>
                      </a:r>
                      <a:endParaRPr sz="1900">
                        <a:latin typeface="Times New Roman"/>
                        <a:cs typeface="Times New Roman"/>
                      </a:endParaRPr>
                    </a:p>
                  </a:txBody>
                  <a:tcPr marL="0" marR="0" marT="0" marB="0"/>
                </a:tc>
                <a:tc>
                  <a:txBody>
                    <a:bodyPr/>
                    <a:lstStyle/>
                    <a:p>
                      <a:pPr>
                        <a:lnSpc>
                          <a:spcPct val="100000"/>
                        </a:lnSpc>
                      </a:pPr>
                      <a:r>
                        <a:rPr lang="en-US" sz="1900">
                          <a:latin typeface="Times New Roman"/>
                          <a:cs typeface="Times New Roman"/>
                        </a:rPr>
                        <a:t>a broad topic that encompasses various techniques and tools for processing and analyzing natural language using the Python programming language.</a:t>
                      </a:r>
                      <a:endParaRPr sz="1900">
                        <a:latin typeface="Times New Roman"/>
                        <a:cs typeface="Times New Roman"/>
                      </a:endParaRPr>
                    </a:p>
                  </a:txBody>
                  <a:tcPr marL="0" marR="0" marT="0" marB="0"/>
                </a:tc>
                <a:extLst>
                  <a:ext uri="{0D108BD9-81ED-4DB2-BD59-A6C34878D82A}">
                    <a16:rowId xmlns:a16="http://schemas.microsoft.com/office/drawing/2014/main" val="1012607582"/>
                  </a:ext>
                </a:extLst>
              </a:tr>
              <a:tr h="859006">
                <a:tc>
                  <a:txBody>
                    <a:bodyPr/>
                    <a:lstStyle/>
                    <a:p>
                      <a:pPr marR="259715" algn="r">
                        <a:lnSpc>
                          <a:spcPct val="100000"/>
                        </a:lnSpc>
                        <a:spcBef>
                          <a:spcPts val="225"/>
                        </a:spcBef>
                      </a:pPr>
                      <a:r>
                        <a:rPr sz="1800">
                          <a:latin typeface="Times New Roman"/>
                          <a:cs typeface="Times New Roman"/>
                        </a:rPr>
                        <a:t>3</a:t>
                      </a:r>
                    </a:p>
                  </a:txBody>
                  <a:tcPr marL="0" marR="0" marT="28575" marB="0"/>
                </a:tc>
                <a:tc>
                  <a:txBody>
                    <a:bodyPr/>
                    <a:lstStyle/>
                    <a:p>
                      <a:pPr>
                        <a:lnSpc>
                          <a:spcPct val="100000"/>
                        </a:lnSpc>
                      </a:pPr>
                      <a:r>
                        <a:rPr lang="en-IN" sz="1800">
                          <a:latin typeface="Times New Roman"/>
                          <a:cs typeface="Times New Roman"/>
                        </a:rPr>
                        <a:t>Sebastian Raschka. &amp;</a:t>
                      </a:r>
                    </a:p>
                    <a:p>
                      <a:pPr>
                        <a:lnSpc>
                          <a:spcPct val="100000"/>
                        </a:lnSpc>
                      </a:pPr>
                      <a:r>
                        <a:rPr lang="en-IN" sz="1800">
                          <a:latin typeface="Times New Roman"/>
                          <a:cs typeface="Times New Roman"/>
                        </a:rPr>
                        <a:t>Vahid Mirjalili.</a:t>
                      </a:r>
                    </a:p>
                  </a:txBody>
                  <a:tcPr marL="0" marR="0" marT="0" marB="0"/>
                </a:tc>
                <a:tc>
                  <a:txBody>
                    <a:bodyPr/>
                    <a:lstStyle/>
                    <a:p>
                      <a:pPr>
                        <a:lnSpc>
                          <a:spcPct val="100000"/>
                        </a:lnSpc>
                      </a:pPr>
                      <a:r>
                        <a:rPr lang="en-IN" sz="1900">
                          <a:latin typeface="Times New Roman"/>
                          <a:cs typeface="Times New Roman"/>
                        </a:rPr>
                        <a:t>“Python Machine Learning” </a:t>
                      </a:r>
                      <a:endParaRPr sz="1900">
                        <a:latin typeface="Times New Roman"/>
                        <a:cs typeface="Times New Roman"/>
                      </a:endParaRPr>
                    </a:p>
                  </a:txBody>
                  <a:tcPr marL="0" marR="0" marT="0" marB="0"/>
                </a:tc>
                <a:tc>
                  <a:txBody>
                    <a:bodyPr/>
                    <a:lstStyle/>
                    <a:p>
                      <a:pPr>
                        <a:lnSpc>
                          <a:spcPct val="100000"/>
                        </a:lnSpc>
                      </a:pPr>
                      <a:r>
                        <a:rPr lang="en-IN" sz="1900" dirty="0">
                          <a:latin typeface="Times New Roman"/>
                          <a:cs typeface="Times New Roman"/>
                        </a:rPr>
                        <a:t>How AI works for specifically for voice assistant.</a:t>
                      </a:r>
                      <a:endParaRPr sz="1900" dirty="0">
                        <a:latin typeface="Times New Roman"/>
                        <a:cs typeface="Times New Roman"/>
                      </a:endParaRPr>
                    </a:p>
                  </a:txBody>
                  <a:tcPr marL="0" marR="0" marT="0" marB="0"/>
                </a:tc>
                <a:extLst>
                  <a:ext uri="{0D108BD9-81ED-4DB2-BD59-A6C34878D82A}">
                    <a16:rowId xmlns:a16="http://schemas.microsoft.com/office/drawing/2014/main" val="2214452630"/>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867025" cy="513080"/>
          </a:xfrm>
          <a:prstGeom prst="rect">
            <a:avLst/>
          </a:prstGeom>
        </p:spPr>
        <p:txBody>
          <a:bodyPr vert="horz" wrap="square" lIns="0" tIns="12700" rIns="0" bIns="0" rtlCol="0">
            <a:spAutoFit/>
          </a:bodyPr>
          <a:lstStyle/>
          <a:p>
            <a:pPr marL="12700">
              <a:lnSpc>
                <a:spcPct val="100000"/>
              </a:lnSpc>
              <a:spcBef>
                <a:spcPts val="100"/>
              </a:spcBef>
            </a:pPr>
            <a:r>
              <a:rPr spc="-5"/>
              <a:t>Methodology</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8</a:t>
            </a:fld>
            <a:endParaRPr/>
          </a:p>
        </p:txBody>
      </p:sp>
      <p:sp>
        <p:nvSpPr>
          <p:cNvPr id="10" name="Rectangle 9">
            <a:extLst>
              <a:ext uri="{FF2B5EF4-FFF2-40B4-BE49-F238E27FC236}">
                <a16:creationId xmlns:a16="http://schemas.microsoft.com/office/drawing/2014/main" id="{13006F2A-0CEF-A487-E800-D17A2E341ECF}"/>
              </a:ext>
            </a:extLst>
          </p:cNvPr>
          <p:cNvSpPr/>
          <p:nvPr/>
        </p:nvSpPr>
        <p:spPr>
          <a:xfrm>
            <a:off x="4352923" y="1319285"/>
            <a:ext cx="1666875"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Analysis</a:t>
            </a:r>
            <a:endParaRPr lang="en-IN" sz="2400"/>
          </a:p>
        </p:txBody>
      </p:sp>
      <p:sp>
        <p:nvSpPr>
          <p:cNvPr id="11" name="Arrow: Down 10">
            <a:extLst>
              <a:ext uri="{FF2B5EF4-FFF2-40B4-BE49-F238E27FC236}">
                <a16:creationId xmlns:a16="http://schemas.microsoft.com/office/drawing/2014/main" id="{C2CDBF5A-24DA-023C-4C93-EB8A6BAEADE5}"/>
              </a:ext>
            </a:extLst>
          </p:cNvPr>
          <p:cNvSpPr/>
          <p:nvPr/>
        </p:nvSpPr>
        <p:spPr>
          <a:xfrm>
            <a:off x="4995860" y="1802011"/>
            <a:ext cx="381000" cy="56480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ADA3455D-EBE6-3828-05CE-E5B942C17E18}"/>
              </a:ext>
            </a:extLst>
          </p:cNvPr>
          <p:cNvSpPr/>
          <p:nvPr/>
        </p:nvSpPr>
        <p:spPr>
          <a:xfrm>
            <a:off x="4314822" y="2368168"/>
            <a:ext cx="1743076"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Coding</a:t>
            </a:r>
            <a:endParaRPr lang="en-IN" sz="2400"/>
          </a:p>
        </p:txBody>
      </p:sp>
      <p:sp>
        <p:nvSpPr>
          <p:cNvPr id="16" name="Arrow: Down 15">
            <a:extLst>
              <a:ext uri="{FF2B5EF4-FFF2-40B4-BE49-F238E27FC236}">
                <a16:creationId xmlns:a16="http://schemas.microsoft.com/office/drawing/2014/main" id="{A3F94C27-DEF0-7D76-6121-F4CC4889FBC5}"/>
              </a:ext>
            </a:extLst>
          </p:cNvPr>
          <p:cNvSpPr/>
          <p:nvPr/>
        </p:nvSpPr>
        <p:spPr>
          <a:xfrm>
            <a:off x="5033962" y="2862687"/>
            <a:ext cx="381000" cy="56480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A2435B6-49FF-6273-8034-FBAFF84F973A}"/>
              </a:ext>
            </a:extLst>
          </p:cNvPr>
          <p:cNvSpPr/>
          <p:nvPr/>
        </p:nvSpPr>
        <p:spPr>
          <a:xfrm>
            <a:off x="4262435" y="3428844"/>
            <a:ext cx="198120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Testing</a:t>
            </a:r>
            <a:endParaRPr lang="en-IN" sz="2400"/>
          </a:p>
        </p:txBody>
      </p:sp>
      <p:sp>
        <p:nvSpPr>
          <p:cNvPr id="18" name="Rectangle 17">
            <a:extLst>
              <a:ext uri="{FF2B5EF4-FFF2-40B4-BE49-F238E27FC236}">
                <a16:creationId xmlns:a16="http://schemas.microsoft.com/office/drawing/2014/main" id="{861B35CC-53A9-0061-50F4-B11C4100E601}"/>
              </a:ext>
            </a:extLst>
          </p:cNvPr>
          <p:cNvSpPr/>
          <p:nvPr/>
        </p:nvSpPr>
        <p:spPr>
          <a:xfrm>
            <a:off x="4195760" y="4505115"/>
            <a:ext cx="1981200" cy="4789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Modification</a:t>
            </a:r>
            <a:endParaRPr lang="en-IN" sz="2400"/>
          </a:p>
        </p:txBody>
      </p:sp>
      <p:sp>
        <p:nvSpPr>
          <p:cNvPr id="19" name="Arrow: Down 18">
            <a:extLst>
              <a:ext uri="{FF2B5EF4-FFF2-40B4-BE49-F238E27FC236}">
                <a16:creationId xmlns:a16="http://schemas.microsoft.com/office/drawing/2014/main" id="{7B4C8101-4D0B-FEF7-D3F9-E8B487DC041D}"/>
              </a:ext>
            </a:extLst>
          </p:cNvPr>
          <p:cNvSpPr/>
          <p:nvPr/>
        </p:nvSpPr>
        <p:spPr>
          <a:xfrm>
            <a:off x="5076825" y="3884538"/>
            <a:ext cx="347662" cy="6051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D28E73F9-E63B-3CBB-D8E6-A11B71DAD77C}"/>
              </a:ext>
            </a:extLst>
          </p:cNvPr>
          <p:cNvSpPr/>
          <p:nvPr/>
        </p:nvSpPr>
        <p:spPr>
          <a:xfrm>
            <a:off x="5050631" y="4970092"/>
            <a:ext cx="347662" cy="5976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86BDF29F-1E3A-52F6-FF81-83ADD3ECE90D}"/>
              </a:ext>
            </a:extLst>
          </p:cNvPr>
          <p:cNvSpPr/>
          <p:nvPr/>
        </p:nvSpPr>
        <p:spPr>
          <a:xfrm>
            <a:off x="4114800" y="5580384"/>
            <a:ext cx="2252990" cy="3400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Implementation</a:t>
            </a:r>
            <a:endParaRPr lang="en-IN" sz="24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57865" cy="1092200"/>
            <a:chOff x="493778" y="365125"/>
            <a:chExt cx="10857865" cy="1092200"/>
          </a:xfrm>
        </p:grpSpPr>
        <p:pic>
          <p:nvPicPr>
            <p:cNvPr id="3" name="object 3"/>
            <p:cNvPicPr/>
            <p:nvPr/>
          </p:nvPicPr>
          <p:blipFill>
            <a:blip r:embed="rId2"/>
            <a:stretch>
              <a:fillRect/>
            </a:stretch>
          </p:blipFill>
          <p:spPr>
            <a:xfrm>
              <a:off x="493778" y="372587"/>
              <a:ext cx="10813397" cy="1084380"/>
            </a:xfrm>
            <a:prstGeom prst="rect">
              <a:avLst/>
            </a:prstGeom>
          </p:spPr>
        </p:pic>
        <p:pic>
          <p:nvPicPr>
            <p:cNvPr id="4" name="object 4"/>
            <p:cNvPicPr/>
            <p:nvPr/>
          </p:nvPicPr>
          <p:blipFill>
            <a:blip r:embed="rId3"/>
            <a:stretch>
              <a:fillRect/>
            </a:stretch>
          </p:blipFill>
          <p:spPr>
            <a:xfrm>
              <a:off x="838200" y="365125"/>
              <a:ext cx="10513422" cy="784405"/>
            </a:xfrm>
            <a:prstGeom prst="rect">
              <a:avLst/>
            </a:prstGeom>
          </p:spPr>
        </p:pic>
      </p:grpSp>
      <p:sp>
        <p:nvSpPr>
          <p:cNvPr id="5" name="object 5"/>
          <p:cNvSpPr txBox="1">
            <a:spLocks noGrp="1"/>
          </p:cNvSpPr>
          <p:nvPr>
            <p:ph type="title"/>
          </p:nvPr>
        </p:nvSpPr>
        <p:spPr>
          <a:xfrm>
            <a:off x="930089" y="537395"/>
            <a:ext cx="10210165" cy="439864"/>
          </a:xfrm>
          <a:prstGeom prst="rect">
            <a:avLst/>
          </a:prstGeom>
        </p:spPr>
        <p:txBody>
          <a:bodyPr vert="horz" wrap="square" lIns="0" tIns="16510" rIns="0" bIns="0" rtlCol="0">
            <a:spAutoFit/>
          </a:bodyPr>
          <a:lstStyle/>
          <a:p>
            <a:pPr marL="12700">
              <a:lnSpc>
                <a:spcPts val="3250"/>
              </a:lnSpc>
              <a:spcBef>
                <a:spcPts val="130"/>
              </a:spcBef>
            </a:pPr>
            <a:r>
              <a:rPr sz="2850" spc="10" dirty="0"/>
              <a:t>Design</a:t>
            </a:r>
            <a:r>
              <a:rPr sz="2850" spc="5" dirty="0"/>
              <a:t> </a:t>
            </a:r>
            <a:r>
              <a:rPr sz="2850" spc="10" dirty="0"/>
              <a:t>of</a:t>
            </a:r>
            <a:r>
              <a:rPr sz="2850" spc="5" dirty="0"/>
              <a:t> </a:t>
            </a:r>
            <a:r>
              <a:rPr sz="2850" spc="10" dirty="0"/>
              <a:t>Mode</a:t>
            </a:r>
            <a:r>
              <a:rPr lang="en-IN" sz="2850" spc="10" dirty="0"/>
              <a:t>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9</a:t>
            </a:fld>
            <a:endParaRPr/>
          </a:p>
        </p:txBody>
      </p:sp>
      <p:pic>
        <p:nvPicPr>
          <p:cNvPr id="12" name="image4.jpeg">
            <a:extLst>
              <a:ext uri="{FF2B5EF4-FFF2-40B4-BE49-F238E27FC236}">
                <a16:creationId xmlns:a16="http://schemas.microsoft.com/office/drawing/2014/main" id="{02DF2D9D-0AFC-5775-0092-C273182B91DA}"/>
              </a:ext>
            </a:extLst>
          </p:cNvPr>
          <p:cNvPicPr>
            <a:picLocks noChangeAspect="1"/>
          </p:cNvPicPr>
          <p:nvPr/>
        </p:nvPicPr>
        <p:blipFill>
          <a:blip r:embed="rId4"/>
          <a:stretch>
            <a:fillRect/>
          </a:stretch>
        </p:blipFill>
        <p:spPr>
          <a:xfrm>
            <a:off x="930089" y="1450041"/>
            <a:ext cx="10170458" cy="4899211"/>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195942"/>
            <a:ext cx="10831830" cy="1162685"/>
            <a:chOff x="493778" y="195942"/>
            <a:chExt cx="10831830" cy="1162685"/>
          </a:xfrm>
        </p:grpSpPr>
        <p:pic>
          <p:nvPicPr>
            <p:cNvPr id="3" name="object 3"/>
            <p:cNvPicPr/>
            <p:nvPr/>
          </p:nvPicPr>
          <p:blipFill>
            <a:blip r:embed="rId2"/>
            <a:stretch>
              <a:fillRect/>
            </a:stretch>
          </p:blipFill>
          <p:spPr>
            <a:xfrm>
              <a:off x="493778" y="203405"/>
              <a:ext cx="10787271" cy="1154909"/>
            </a:xfrm>
            <a:prstGeom prst="rect">
              <a:avLst/>
            </a:prstGeom>
          </p:spPr>
        </p:pic>
        <p:pic>
          <p:nvPicPr>
            <p:cNvPr id="4" name="object 4"/>
            <p:cNvPicPr/>
            <p:nvPr/>
          </p:nvPicPr>
          <p:blipFill>
            <a:blip r:embed="rId3"/>
            <a:stretch>
              <a:fillRect/>
            </a:stretch>
          </p:blipFill>
          <p:spPr>
            <a:xfrm>
              <a:off x="838200" y="195942"/>
              <a:ext cx="10487296" cy="854934"/>
            </a:xfrm>
            <a:prstGeom prst="rect">
              <a:avLst/>
            </a:prstGeom>
          </p:spPr>
        </p:pic>
      </p:grpSp>
      <p:sp>
        <p:nvSpPr>
          <p:cNvPr id="5" name="object 5"/>
          <p:cNvSpPr txBox="1">
            <a:spLocks noGrp="1"/>
          </p:cNvSpPr>
          <p:nvPr>
            <p:ph type="title"/>
          </p:nvPr>
        </p:nvSpPr>
        <p:spPr>
          <a:xfrm>
            <a:off x="866504" y="391615"/>
            <a:ext cx="8882380" cy="463588"/>
          </a:xfrm>
          <a:prstGeom prst="rect">
            <a:avLst/>
          </a:prstGeom>
        </p:spPr>
        <p:txBody>
          <a:bodyPr vert="horz" wrap="square" lIns="0" tIns="65405" rIns="0" bIns="0" rtlCol="0">
            <a:spAutoFit/>
          </a:bodyPr>
          <a:lstStyle/>
          <a:p>
            <a:pPr marL="12700" marR="5080">
              <a:lnSpc>
                <a:spcPts val="3080"/>
              </a:lnSpc>
              <a:spcBef>
                <a:spcPts val="515"/>
              </a:spcBef>
            </a:pPr>
            <a:r>
              <a:rPr sz="2850" spc="15" dirty="0"/>
              <a:t>Assembly</a:t>
            </a:r>
            <a:r>
              <a:rPr sz="2850" spc="-5" dirty="0"/>
              <a:t> </a:t>
            </a:r>
            <a:r>
              <a:rPr sz="2850" spc="10" dirty="0"/>
              <a:t>and</a:t>
            </a:r>
            <a:r>
              <a:rPr sz="2850" spc="-5" dirty="0"/>
              <a:t> </a:t>
            </a:r>
            <a:r>
              <a:rPr sz="2850" spc="10" dirty="0"/>
              <a:t>working</a:t>
            </a:r>
            <a:r>
              <a:rPr sz="2850" dirty="0"/>
              <a:t> </a:t>
            </a:r>
            <a:r>
              <a:rPr sz="2850" spc="10" dirty="0"/>
              <a:t>of</a:t>
            </a:r>
            <a:r>
              <a:rPr sz="2850" spc="-5" dirty="0"/>
              <a:t> </a:t>
            </a:r>
            <a:r>
              <a:rPr sz="2850" spc="15" dirty="0"/>
              <a:t>Model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10</a:t>
            </a:fld>
            <a:endParaRPr/>
          </a:p>
        </p:txBody>
      </p:sp>
      <p:sp>
        <p:nvSpPr>
          <p:cNvPr id="11" name="TextBox 10">
            <a:extLst>
              <a:ext uri="{FF2B5EF4-FFF2-40B4-BE49-F238E27FC236}">
                <a16:creationId xmlns:a16="http://schemas.microsoft.com/office/drawing/2014/main" id="{03811343-A87B-4B08-C403-694284AB03C2}"/>
              </a:ext>
            </a:extLst>
          </p:cNvPr>
          <p:cNvSpPr txBox="1"/>
          <p:nvPr/>
        </p:nvSpPr>
        <p:spPr>
          <a:xfrm>
            <a:off x="911225" y="1328043"/>
            <a:ext cx="10787271" cy="4893647"/>
          </a:xfrm>
          <a:prstGeom prst="rect">
            <a:avLst/>
          </a:prstGeom>
          <a:noFill/>
        </p:spPr>
        <p:txBody>
          <a:bodyPr wrap="square" rtlCol="0">
            <a:spAutoFit/>
          </a:bodyPr>
          <a:lstStyle/>
          <a:p>
            <a:r>
              <a:rPr lang="en-US" sz="2400"/>
              <a:t>●  Assembly of this model needs software and hardware requirements.</a:t>
            </a:r>
          </a:p>
          <a:p>
            <a:endParaRPr lang="en-US" sz="2400"/>
          </a:p>
          <a:p>
            <a:r>
              <a:rPr lang="en-US" sz="2400"/>
              <a:t>Software requirements are…</a:t>
            </a:r>
          </a:p>
          <a:p>
            <a:r>
              <a:rPr lang="en-US" sz="2400"/>
              <a:t>* Python should be 3.5 or above version</a:t>
            </a:r>
          </a:p>
          <a:p>
            <a:r>
              <a:rPr lang="en-US" sz="2400"/>
              <a:t>* Windows should be 7 and above</a:t>
            </a:r>
          </a:p>
          <a:p>
            <a:endParaRPr lang="en-US" sz="2400"/>
          </a:p>
          <a:p>
            <a:r>
              <a:rPr lang="en-US" sz="2400"/>
              <a:t>While Hardware requirement are…</a:t>
            </a:r>
          </a:p>
          <a:p>
            <a:r>
              <a:rPr lang="en-US" sz="2400"/>
              <a:t>* Processor : intel core i3</a:t>
            </a:r>
          </a:p>
          <a:p>
            <a:r>
              <a:rPr lang="en-US" sz="2400"/>
              <a:t>* RAM : 2GB</a:t>
            </a:r>
          </a:p>
          <a:p>
            <a:r>
              <a:rPr lang="en-US" sz="2400"/>
              <a:t>* O.S should be windows or Mac</a:t>
            </a:r>
          </a:p>
          <a:p>
            <a:r>
              <a:rPr lang="en-US" sz="2400"/>
              <a:t>* Microphones for input voice  </a:t>
            </a:r>
          </a:p>
          <a:p>
            <a:endParaRPr lang="en-US" sz="2400"/>
          </a:p>
          <a:p>
            <a:r>
              <a:rPr lang="en-US" sz="2400"/>
              <a:t>Source code link :-</a:t>
            </a:r>
            <a:r>
              <a:rPr lang="en-US" sz="2400">
                <a:hlinkClick r:id="rId4" action="ppaction://hlinkfile"/>
              </a:rPr>
              <a:t>..\my python files\Final PBL Project Test.py</a:t>
            </a:r>
            <a:endParaRPr lang="en-US" sz="24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31D7-A7AE-5844-9A09-F7A07D194DCD}"/>
              </a:ext>
            </a:extLst>
          </p:cNvPr>
          <p:cNvSpPr>
            <a:spLocks noGrp="1"/>
          </p:cNvSpPr>
          <p:nvPr>
            <p:ph type="title"/>
          </p:nvPr>
        </p:nvSpPr>
        <p:spPr>
          <a:xfrm>
            <a:off x="911225" y="420956"/>
            <a:ext cx="10369550" cy="492443"/>
          </a:xfrm>
        </p:spPr>
        <p:txBody>
          <a:bodyPr/>
          <a:lstStyle/>
          <a:p>
            <a:r>
              <a:rPr lang="en-IN" dirty="0"/>
              <a:t>Working of model</a:t>
            </a:r>
            <a:endParaRPr lang="en-US" dirty="0"/>
          </a:p>
        </p:txBody>
      </p:sp>
    </p:spTree>
    <p:extLst>
      <p:ext uri="{BB962C8B-B14F-4D97-AF65-F5344CB8AC3E}">
        <p14:creationId xmlns:p14="http://schemas.microsoft.com/office/powerpoint/2010/main" val="225906026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5382895" cy="513080"/>
          </a:xfrm>
          <a:prstGeom prst="rect">
            <a:avLst/>
          </a:prstGeom>
        </p:spPr>
        <p:txBody>
          <a:bodyPr vert="horz" wrap="square" lIns="0" tIns="12700" rIns="0" bIns="0" rtlCol="0">
            <a:spAutoFit/>
          </a:bodyPr>
          <a:lstStyle/>
          <a:p>
            <a:pPr marL="12700">
              <a:lnSpc>
                <a:spcPct val="100000"/>
              </a:lnSpc>
              <a:spcBef>
                <a:spcPts val="100"/>
              </a:spcBef>
            </a:pPr>
            <a:r>
              <a:rPr spc="-10"/>
              <a:t>Results</a:t>
            </a:r>
            <a:r>
              <a:rPr spc="-50"/>
              <a:t> </a:t>
            </a:r>
            <a:r>
              <a:rPr spc="-10"/>
              <a:t>and</a:t>
            </a:r>
            <a:r>
              <a:rPr spc="-45"/>
              <a:t> </a:t>
            </a:r>
            <a:r>
              <a:rPr spc="-10"/>
              <a:t>discussions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12</a:t>
            </a:fld>
            <a:endParaRPr/>
          </a:p>
        </p:txBody>
      </p:sp>
      <p:sp>
        <p:nvSpPr>
          <p:cNvPr id="8" name="TextBox 7">
            <a:extLst>
              <a:ext uri="{FF2B5EF4-FFF2-40B4-BE49-F238E27FC236}">
                <a16:creationId xmlns:a16="http://schemas.microsoft.com/office/drawing/2014/main" id="{51E8CB18-C2B9-AACE-4FD7-0475C1B2F833}"/>
              </a:ext>
            </a:extLst>
          </p:cNvPr>
          <p:cNvSpPr txBox="1"/>
          <p:nvPr/>
        </p:nvSpPr>
        <p:spPr>
          <a:xfrm>
            <a:off x="911225" y="934036"/>
            <a:ext cx="10108426" cy="6001643"/>
          </a:xfrm>
          <a:prstGeom prst="rect">
            <a:avLst/>
          </a:prstGeom>
          <a:noFill/>
        </p:spPr>
        <p:txBody>
          <a:bodyPr wrap="square" lIns="91440" tIns="45720" rIns="91440" bIns="45720" rtlCol="0" anchor="t">
            <a:spAutoFit/>
          </a:bodyPr>
          <a:lstStyle/>
          <a:p>
            <a:endParaRPr lang="en-US" sz="3200" dirty="0"/>
          </a:p>
          <a:p>
            <a:r>
              <a:rPr lang="en-US" sz="3200" b="1" u="sng" dirty="0"/>
              <a:t>Result</a:t>
            </a:r>
            <a:r>
              <a:rPr lang="en-US" sz="3200" b="1" dirty="0"/>
              <a:t> :-</a:t>
            </a:r>
          </a:p>
          <a:p>
            <a:endParaRPr lang="en-US" sz="3200" b="1" dirty="0"/>
          </a:p>
          <a:p>
            <a:r>
              <a:rPr lang="en-US" sz="3200" dirty="0"/>
              <a:t>The project work of voice assistant has been clearly explained in the report , How useful it is and how we can reply on voice assistant for basic task that user want to perform. Development of the software is almost completed from our side and it is also working as we excepted. So , many modification can be done on it now.</a:t>
            </a:r>
          </a:p>
          <a:p>
            <a:endParaRPr lang="en-US" sz="3200" dirty="0"/>
          </a:p>
          <a:p>
            <a:endParaRPr lang="en-US" sz="3200" dirty="0"/>
          </a:p>
          <a:p>
            <a:endParaRPr lang="en-IN" sz="32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483485" cy="513080"/>
          </a:xfrm>
          <a:prstGeom prst="rect">
            <a:avLst/>
          </a:prstGeom>
        </p:spPr>
        <p:txBody>
          <a:bodyPr vert="horz" wrap="square" lIns="0" tIns="12700" rIns="0" bIns="0" rtlCol="0">
            <a:spAutoFit/>
          </a:bodyPr>
          <a:lstStyle/>
          <a:p>
            <a:pPr marL="12700">
              <a:lnSpc>
                <a:spcPct val="100000"/>
              </a:lnSpc>
              <a:spcBef>
                <a:spcPts val="100"/>
              </a:spcBef>
            </a:pPr>
            <a:r>
              <a:rPr spc="-5"/>
              <a:t>Conclusion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13</a:t>
            </a:fld>
            <a:endParaRPr/>
          </a:p>
        </p:txBody>
      </p:sp>
      <p:sp>
        <p:nvSpPr>
          <p:cNvPr id="10" name="TextBox 9">
            <a:extLst>
              <a:ext uri="{FF2B5EF4-FFF2-40B4-BE49-F238E27FC236}">
                <a16:creationId xmlns:a16="http://schemas.microsoft.com/office/drawing/2014/main" id="{889982FE-F7C3-73A3-1892-30BD89C2BE29}"/>
              </a:ext>
            </a:extLst>
          </p:cNvPr>
          <p:cNvSpPr txBox="1"/>
          <p:nvPr/>
        </p:nvSpPr>
        <p:spPr>
          <a:xfrm>
            <a:off x="911225" y="1464838"/>
            <a:ext cx="10338937" cy="6986528"/>
          </a:xfrm>
          <a:prstGeom prst="rect">
            <a:avLst/>
          </a:prstGeom>
          <a:noFill/>
        </p:spPr>
        <p:txBody>
          <a:bodyPr wrap="square" lIns="91440" tIns="45720" rIns="91440" bIns="45720" rtlCol="0" anchor="t">
            <a:spAutoFit/>
          </a:bodyPr>
          <a:lstStyle/>
          <a:p>
            <a:pPr marL="457200" indent="-457200">
              <a:buFont typeface="Wingdings"/>
              <a:buChar char="Ø"/>
            </a:pPr>
            <a:r>
              <a:rPr lang="en-IN" sz="3200" dirty="0"/>
              <a:t>It</a:t>
            </a:r>
            <a:r>
              <a:rPr lang="en-US" sz="3200" dirty="0"/>
              <a:t> uses Natural Language Processing to process the language spoken by the human and understand the query and process the query and respond to the human with the result.</a:t>
            </a:r>
            <a:endParaRPr lang="en-US" dirty="0"/>
          </a:p>
          <a:p>
            <a:endParaRPr lang="en-US" sz="3200" dirty="0"/>
          </a:p>
          <a:p>
            <a:pPr marL="457200" indent="-457200">
              <a:buFont typeface="Wingdings"/>
              <a:buChar char="Ø"/>
            </a:pPr>
            <a:r>
              <a:rPr lang="en-US" sz="3200" dirty="0"/>
              <a:t>It perform basic tasks such as battery percentage, music, current weather, news, send email, time and </a:t>
            </a:r>
            <a:r>
              <a:rPr lang="en-US" sz="3200" dirty="0" err="1"/>
              <a:t>etc</a:t>
            </a:r>
            <a:r>
              <a:rPr lang="en-US" sz="3200" dirty="0"/>
              <a:t>; ultimately helping physically disabled people(blind people).</a:t>
            </a:r>
          </a:p>
          <a:p>
            <a:endParaRPr lang="en-US" sz="3200" dirty="0"/>
          </a:p>
          <a:p>
            <a:endParaRPr lang="en-US" sz="3200" dirty="0"/>
          </a:p>
          <a:p>
            <a:endParaRPr lang="en-US" sz="3200" dirty="0"/>
          </a:p>
          <a:p>
            <a:endParaRPr lang="en-US" sz="3200" dirty="0"/>
          </a:p>
          <a:p>
            <a:endParaRPr lang="en-US" sz="32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931795" cy="513080"/>
          </a:xfrm>
          <a:prstGeom prst="rect">
            <a:avLst/>
          </a:prstGeom>
        </p:spPr>
        <p:txBody>
          <a:bodyPr vert="horz" wrap="square" lIns="0" tIns="12700" rIns="0" bIns="0" rtlCol="0">
            <a:spAutoFit/>
          </a:bodyPr>
          <a:lstStyle/>
          <a:p>
            <a:pPr marL="12700">
              <a:lnSpc>
                <a:spcPct val="100000"/>
              </a:lnSpc>
              <a:spcBef>
                <a:spcPts val="100"/>
              </a:spcBef>
            </a:pPr>
            <a:r>
              <a:rPr spc="-10"/>
              <a:t>Future</a:t>
            </a:r>
            <a:r>
              <a:rPr spc="-90"/>
              <a:t> </a:t>
            </a:r>
            <a:r>
              <a:rPr spc="-5"/>
              <a:t>scope</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14</a:t>
            </a:fld>
            <a:endParaRPr/>
          </a:p>
        </p:txBody>
      </p:sp>
      <p:sp>
        <p:nvSpPr>
          <p:cNvPr id="8" name="TextBox 7">
            <a:extLst>
              <a:ext uri="{FF2B5EF4-FFF2-40B4-BE49-F238E27FC236}">
                <a16:creationId xmlns:a16="http://schemas.microsoft.com/office/drawing/2014/main" id="{13A41A05-FD73-AE1C-2AB0-D7537CBC2D48}"/>
              </a:ext>
            </a:extLst>
          </p:cNvPr>
          <p:cNvSpPr txBox="1"/>
          <p:nvPr/>
        </p:nvSpPr>
        <p:spPr>
          <a:xfrm>
            <a:off x="911225" y="1447800"/>
            <a:ext cx="10594975" cy="3046988"/>
          </a:xfrm>
          <a:prstGeom prst="rect">
            <a:avLst/>
          </a:prstGeom>
          <a:noFill/>
        </p:spPr>
        <p:txBody>
          <a:bodyPr wrap="square" lIns="91440" tIns="45720" rIns="91440" bIns="45720" rtlCol="0" anchor="t">
            <a:spAutoFit/>
          </a:bodyPr>
          <a:lstStyle/>
          <a:p>
            <a:r>
              <a:rPr lang="en-US" sz="3200" dirty="0"/>
              <a:t>* Sending emails with voice assistant </a:t>
            </a:r>
            <a:endParaRPr lang="en-US" sz="3200"/>
          </a:p>
          <a:p>
            <a:r>
              <a:rPr lang="en-US" sz="3200" dirty="0"/>
              <a:t>* Scheduling appointments using voice assistant</a:t>
            </a:r>
          </a:p>
          <a:p>
            <a:r>
              <a:rPr lang="en-US" sz="3200" dirty="0"/>
              <a:t>* Improve interface of voice assistant (VUI)</a:t>
            </a:r>
          </a:p>
          <a:p>
            <a:r>
              <a:rPr lang="en-US" sz="3200" dirty="0"/>
              <a:t>* Speed and Efficiency</a:t>
            </a:r>
          </a:p>
          <a:p>
            <a:r>
              <a:rPr lang="en-IN" sz="3200" dirty="0"/>
              <a:t>* Intuitiveness and </a:t>
            </a:r>
            <a:r>
              <a:rPr lang="en-US" sz="3200" dirty="0"/>
              <a:t>convenience </a:t>
            </a:r>
            <a:endParaRPr lang="en-IN" sz="3200"/>
          </a:p>
          <a:p>
            <a:r>
              <a:rPr lang="en-US" sz="3200" dirty="0"/>
              <a:t>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551430" cy="513080"/>
          </a:xfrm>
          <a:prstGeom prst="rect">
            <a:avLst/>
          </a:prstGeom>
        </p:spPr>
        <p:txBody>
          <a:bodyPr vert="horz" wrap="square" lIns="0" tIns="12700" rIns="0" bIns="0" rtlCol="0">
            <a:spAutoFit/>
          </a:bodyPr>
          <a:lstStyle/>
          <a:p>
            <a:pPr marL="12700">
              <a:lnSpc>
                <a:spcPct val="100000"/>
              </a:lnSpc>
              <a:spcBef>
                <a:spcPts val="100"/>
              </a:spcBef>
            </a:pPr>
            <a:r>
              <a:rPr spc="-5"/>
              <a:t>References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15</a:t>
            </a:fld>
            <a:endParaRPr/>
          </a:p>
        </p:txBody>
      </p:sp>
      <p:sp>
        <p:nvSpPr>
          <p:cNvPr id="8" name="TextBox 7">
            <a:extLst>
              <a:ext uri="{FF2B5EF4-FFF2-40B4-BE49-F238E27FC236}">
                <a16:creationId xmlns:a16="http://schemas.microsoft.com/office/drawing/2014/main" id="{7B27C365-676E-5591-CEE2-BA9A3680B819}"/>
              </a:ext>
            </a:extLst>
          </p:cNvPr>
          <p:cNvSpPr txBox="1"/>
          <p:nvPr/>
        </p:nvSpPr>
        <p:spPr>
          <a:xfrm>
            <a:off x="911225" y="1371600"/>
            <a:ext cx="10290175" cy="3785652"/>
          </a:xfrm>
          <a:prstGeom prst="rect">
            <a:avLst/>
          </a:prstGeom>
          <a:noFill/>
        </p:spPr>
        <p:txBody>
          <a:bodyPr wrap="square" rtlCol="0" anchor="ctr">
            <a:spAutoFit/>
          </a:bodyPr>
          <a:lstStyle/>
          <a:p>
            <a:r>
              <a:rPr lang="en-US" sz="2400" b="1" u="sng"/>
              <a:t>Source internet</a:t>
            </a:r>
            <a:r>
              <a:rPr lang="en-US" sz="2400"/>
              <a:t>:-</a:t>
            </a:r>
          </a:p>
          <a:p>
            <a:endParaRPr lang="en-US" sz="2400"/>
          </a:p>
          <a:p>
            <a:r>
              <a:rPr lang="en-US" sz="2400"/>
              <a:t>● Youtube channel </a:t>
            </a:r>
          </a:p>
          <a:p>
            <a:r>
              <a:rPr lang="en-US" sz="2400"/>
              <a:t>● Goggle</a:t>
            </a:r>
          </a:p>
          <a:p>
            <a:r>
              <a:rPr lang="en-US" sz="2400"/>
              <a:t>● Chatgpt</a:t>
            </a:r>
          </a:p>
          <a:p>
            <a:endParaRPr lang="en-US" sz="2400"/>
          </a:p>
          <a:p>
            <a:r>
              <a:rPr lang="en-US" sz="2400" b="1" u="sng"/>
              <a:t>Book</a:t>
            </a:r>
            <a:r>
              <a:rPr lang="en-US" sz="2400"/>
              <a:t>:-</a:t>
            </a:r>
          </a:p>
          <a:p>
            <a:endParaRPr lang="en-US" sz="2400"/>
          </a:p>
          <a:p>
            <a:r>
              <a:rPr lang="en-US" sz="2400"/>
              <a:t>● Python programming </a:t>
            </a:r>
          </a:p>
          <a:p>
            <a:r>
              <a:rPr lang="en-US" sz="2400"/>
              <a:t>● Python learning</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27"/>
  <p:tag name="AS_OS" val="Unix 6.5.0.1014"/>
  <p:tag name="AS_RELEASE_DATE" val="2023.01.14"/>
  <p:tag name="AS_TITLE" val="Aspose.Slides for .NET5"/>
  <p:tag name="AS_VERSION" val="2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893</Words>
  <Application>Microsoft Office PowerPoint</Application>
  <PresentationFormat>Widescreen</PresentationFormat>
  <Paragraphs>145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Black</vt:lpstr>
      <vt:lpstr>Arial MT</vt:lpstr>
      <vt:lpstr>Calibri</vt:lpstr>
      <vt:lpstr>Times New Roman</vt:lpstr>
      <vt:lpstr>Wingdings</vt:lpstr>
      <vt:lpstr>Office Theme</vt:lpstr>
      <vt:lpstr>PowerPoint Presentation</vt:lpstr>
      <vt:lpstr>CONTENTS</vt:lpstr>
      <vt:lpstr>Introduction</vt:lpstr>
      <vt:lpstr>Need of the Project</vt:lpstr>
      <vt:lpstr>Problem Statement/Aim </vt:lpstr>
      <vt:lpstr>Objectives</vt:lpstr>
      <vt:lpstr>Literature Review</vt:lpstr>
      <vt:lpstr>Methodology</vt:lpstr>
      <vt:lpstr>Design of Model</vt:lpstr>
      <vt:lpstr>Assembly and working of Model</vt:lpstr>
      <vt:lpstr>Working of model</vt:lpstr>
      <vt:lpstr>Results and discussions</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Sarang Deshpande</dc:creator>
  <cp:lastModifiedBy>sarangdeshpande.ssd@gmail.com</cp:lastModifiedBy>
  <cp:revision>197</cp:revision>
  <dcterms:created xsi:type="dcterms:W3CDTF">2023-04-28T17:23:11Z</dcterms:created>
  <dcterms:modified xsi:type="dcterms:W3CDTF">2025-02-15T05:08:18Z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