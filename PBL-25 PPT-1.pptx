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12192000" cy="6858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29" autoAdjust="0"/>
  </p:normalViewPr>
  <p:slideViewPr>
    <p:cSldViewPr>
      <p:cViewPr varScale="1">
        <p:scale>
          <a:sx n="73" d="100"/>
          <a:sy n="73" d="100"/>
        </p:scale>
        <p:origin x="1042" y="72"/>
      </p:cViewPr>
      <p:guideLst>
        <p:guide orient="horz" pos="2880"/>
        <p:guide pos="2160"/>
      </p:guideLst>
    </p:cSldViewPr>
  </p:slideViewPr>
  <p:notesTextViewPr>
    <p:cViewPr>
      <p:scale>
        <a:sx n="100" d="100"/>
        <a:sy n="100" d="100"/>
      </p:scale>
      <p:origin x="0" y="0"/>
    </p:cViewPr>
  </p:notesTextViewPr>
  <p:notesViewPr>
    <p:cSldViewPr>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F192FCB-BB56-4C63-9BD6-D86A31EC9420}" type="datetimeFigureOut">
              <a:rPr lang="en-IN" smtClean="0"/>
              <a:t>24-04-2025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D4C9F64-E0B2-472D-A4AF-AF1218808758}" type="slidenum">
              <a:rPr lang="en-IN" smtClean="0"/>
              <a:t>‹#›</a:t>
            </a:fld>
            <a:endParaRPr lang="en-IN"/>
          </a:p>
        </p:txBody>
      </p:sp>
    </p:spTree>
    <p:extLst>
      <p:ext uri="{BB962C8B-B14F-4D97-AF65-F5344CB8AC3E}">
        <p14:creationId xmlns:p14="http://schemas.microsoft.com/office/powerpoint/2010/main" val="3399082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4C9F64-E0B2-472D-A4AF-AF1218808758}" type="slidenum">
              <a:rPr lang="en-IN" smtClean="0"/>
              <a:t>10</a:t>
            </a:fld>
            <a:endParaRPr lang="en-IN"/>
          </a:p>
        </p:txBody>
      </p:sp>
    </p:spTree>
    <p:extLst>
      <p:ext uri="{BB962C8B-B14F-4D97-AF65-F5344CB8AC3E}">
        <p14:creationId xmlns:p14="http://schemas.microsoft.com/office/powerpoint/2010/main" val="2080395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6" name="Holder 6"/>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7" name="Holder 7"/>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4" name="Holder 4"/>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5" name="Holder 5"/>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3" name="Holder 3"/>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4" name="Holder 4"/>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a:stretch>
            <a:fillRect/>
          </a:stretch>
        </p:blipFill>
        <p:spPr>
          <a:xfrm>
            <a:off x="493778" y="372587"/>
            <a:ext cx="10815574" cy="985727"/>
          </a:xfrm>
          <a:prstGeom prst="rect">
            <a:avLst/>
          </a:prstGeom>
        </p:spPr>
      </p:pic>
      <p:pic>
        <p:nvPicPr>
          <p:cNvPr id="17" name="bg object 17"/>
          <p:cNvPicPr/>
          <p:nvPr/>
        </p:nvPicPr>
        <p:blipFill>
          <a:blip r:embed="rId8"/>
          <a:stretch>
            <a:fillRect/>
          </a:stretch>
        </p:blipFill>
        <p:spPr>
          <a:xfrm>
            <a:off x="838200" y="365125"/>
            <a:ext cx="10515599" cy="685752"/>
          </a:xfrm>
          <a:prstGeom prst="rect">
            <a:avLst/>
          </a:prstGeom>
        </p:spPr>
      </p:pic>
      <p:sp>
        <p:nvSpPr>
          <p:cNvPr id="2" name="Holder 2"/>
          <p:cNvSpPr>
            <a:spLocks noGrp="1"/>
          </p:cNvSpPr>
          <p:nvPr>
            <p:ph type="title"/>
          </p:nvPr>
        </p:nvSpPr>
        <p:spPr>
          <a:xfrm>
            <a:off x="911225" y="420956"/>
            <a:ext cx="10369550" cy="513080"/>
          </a:xfrm>
          <a:prstGeom prst="rect">
            <a:avLst/>
          </a:prstGeom>
        </p:spPr>
        <p:txBody>
          <a:bodyPr wrap="square" lIns="0" tIns="0" rIns="0" bIns="0">
            <a:spAutoFit/>
          </a:bodyPr>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a:xfrm>
            <a:off x="831850" y="1328737"/>
            <a:ext cx="10534650" cy="46012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704532" y="6446223"/>
            <a:ext cx="78232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a:xfrm>
            <a:off x="301057" y="6462098"/>
            <a:ext cx="736600" cy="194309"/>
          </a:xfrm>
          <a:prstGeom prst="rect">
            <a:avLst/>
          </a:prstGeom>
        </p:spPr>
        <p:txBody>
          <a:bodyPr wrap="square" lIns="0" tIns="0" rIns="0" bIns="0">
            <a:spAutoFit/>
          </a:bodyPr>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a:xfrm>
            <a:off x="11573377" y="6471377"/>
            <a:ext cx="254000" cy="222884"/>
          </a:xfrm>
          <a:prstGeom prst="rect">
            <a:avLst/>
          </a:prstGeom>
        </p:spPr>
        <p:txBody>
          <a:bodyPr wrap="square" lIns="0" tIns="0" rIns="0" bIns="0">
            <a:spAutoFit/>
          </a:bodyPr>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67D6A3-CBAA-49CE-7859-DE9297653A29}"/>
              </a:ext>
            </a:extLst>
          </p:cNvPr>
          <p:cNvSpPr txBox="1"/>
          <p:nvPr/>
        </p:nvSpPr>
        <p:spPr>
          <a:xfrm>
            <a:off x="3864908" y="501985"/>
            <a:ext cx="4454338" cy="14619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dirty="0">
                <a:latin typeface="Times New Roman" panose="02020603050405020304" pitchFamily="18" charset="0"/>
                <a:ea typeface="+mn-lt"/>
                <a:cs typeface="Times New Roman" panose="02020603050405020304" pitchFamily="18" charset="0"/>
              </a:rPr>
              <a:t>A Project </a:t>
            </a:r>
            <a:r>
              <a:rPr lang="en-IN" sz="2500" dirty="0">
                <a:latin typeface="Times New Roman" panose="02020603050405020304" pitchFamily="18" charset="0"/>
                <a:ea typeface="+mn-lt"/>
                <a:cs typeface="Times New Roman" panose="02020603050405020304" pitchFamily="18" charset="0"/>
              </a:rPr>
              <a:t>B</a:t>
            </a:r>
            <a:r>
              <a:rPr lang="en-US" sz="2500" dirty="0">
                <a:latin typeface="Times New Roman" panose="02020603050405020304" pitchFamily="18" charset="0"/>
                <a:ea typeface="+mn-lt"/>
                <a:cs typeface="Times New Roman" panose="02020603050405020304" pitchFamily="18" charset="0"/>
              </a:rPr>
              <a:t>ased Learning project </a:t>
            </a:r>
          </a:p>
          <a:p>
            <a:pPr algn="ctr"/>
            <a:endParaRPr lang="en-US"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Desktop Voice Assistant</a:t>
            </a:r>
            <a:r>
              <a:rPr lang="en-IN" sz="2800" b="1" dirty="0">
                <a:latin typeface="Times New Roman" panose="02020603050405020304" pitchFamily="18" charset="0"/>
                <a:cs typeface="Times New Roman" panose="02020603050405020304" pitchFamily="18" charset="0"/>
              </a:rPr>
              <a:t> </a:t>
            </a:r>
          </a:p>
          <a:p>
            <a:pPr algn="l"/>
            <a:endParaRPr lang="en-US" dirty="0"/>
          </a:p>
        </p:txBody>
      </p:sp>
      <p:pic>
        <p:nvPicPr>
          <p:cNvPr id="3" name="Picture 2" descr="A logo of a college&#10;&#10;Description automatically generated">
            <a:extLst>
              <a:ext uri="{FF2B5EF4-FFF2-40B4-BE49-F238E27FC236}">
                <a16:creationId xmlns:a16="http://schemas.microsoft.com/office/drawing/2014/main" id="{B72DC960-7383-7146-747A-9A1577C9E3C8}"/>
              </a:ext>
            </a:extLst>
          </p:cNvPr>
          <p:cNvPicPr>
            <a:picLocks noChangeAspect="1"/>
          </p:cNvPicPr>
          <p:nvPr/>
        </p:nvPicPr>
        <p:blipFill>
          <a:blip r:embed="rId2"/>
          <a:stretch>
            <a:fillRect/>
          </a:stretch>
        </p:blipFill>
        <p:spPr>
          <a:xfrm>
            <a:off x="293364" y="150061"/>
            <a:ext cx="2378891" cy="2051080"/>
          </a:xfrm>
          <a:prstGeom prst="rect">
            <a:avLst/>
          </a:prstGeom>
        </p:spPr>
      </p:pic>
      <p:pic>
        <p:nvPicPr>
          <p:cNvPr id="4" name="Picture 3" descr="A yellow and black emblem with horses and a building&#10;&#10;Description automatically generated">
            <a:extLst>
              <a:ext uri="{FF2B5EF4-FFF2-40B4-BE49-F238E27FC236}">
                <a16:creationId xmlns:a16="http://schemas.microsoft.com/office/drawing/2014/main" id="{555323C9-FBEF-1FDE-2ACA-F2913E2F8D04}"/>
              </a:ext>
            </a:extLst>
          </p:cNvPr>
          <p:cNvPicPr>
            <a:picLocks noChangeAspect="1"/>
          </p:cNvPicPr>
          <p:nvPr/>
        </p:nvPicPr>
        <p:blipFill>
          <a:blip r:embed="rId3"/>
          <a:stretch>
            <a:fillRect/>
          </a:stretch>
        </p:blipFill>
        <p:spPr>
          <a:xfrm>
            <a:off x="9525000" y="150061"/>
            <a:ext cx="2378891" cy="2051080"/>
          </a:xfrm>
          <a:prstGeom prst="rect">
            <a:avLst/>
          </a:prstGeom>
        </p:spPr>
      </p:pic>
      <p:sp>
        <p:nvSpPr>
          <p:cNvPr id="5" name="TextBox 4">
            <a:extLst>
              <a:ext uri="{FF2B5EF4-FFF2-40B4-BE49-F238E27FC236}">
                <a16:creationId xmlns:a16="http://schemas.microsoft.com/office/drawing/2014/main" id="{DD485BB9-0566-F39E-3E14-F48C7E9AB1B4}"/>
              </a:ext>
            </a:extLst>
          </p:cNvPr>
          <p:cNvSpPr txBox="1"/>
          <p:nvPr/>
        </p:nvSpPr>
        <p:spPr>
          <a:xfrm>
            <a:off x="2562073" y="5988237"/>
            <a:ext cx="76294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
            <a:r>
              <a:rPr lang="en-IN" sz="2800" b="1" spc="-5" dirty="0">
                <a:latin typeface="Times New Roman"/>
                <a:cs typeface="Times New Roman"/>
              </a:rPr>
              <a:t>Amrutvahini</a:t>
            </a:r>
            <a:r>
              <a:rPr lang="en-IN" sz="2800" b="1" spc="-25" dirty="0">
                <a:latin typeface="Times New Roman"/>
                <a:cs typeface="Times New Roman"/>
              </a:rPr>
              <a:t> </a:t>
            </a:r>
            <a:r>
              <a:rPr lang="en-IN" sz="2800" b="1" spc="-5" dirty="0">
                <a:latin typeface="Times New Roman"/>
                <a:cs typeface="Times New Roman"/>
              </a:rPr>
              <a:t>College</a:t>
            </a:r>
            <a:r>
              <a:rPr lang="en-IN" sz="2800" b="1" spc="-25" dirty="0">
                <a:latin typeface="Times New Roman"/>
                <a:cs typeface="Times New Roman"/>
              </a:rPr>
              <a:t> </a:t>
            </a:r>
            <a:r>
              <a:rPr lang="en-IN" sz="2800" b="1" dirty="0">
                <a:latin typeface="Times New Roman"/>
                <a:cs typeface="Times New Roman"/>
              </a:rPr>
              <a:t>of</a:t>
            </a:r>
            <a:r>
              <a:rPr lang="en-IN" sz="2800" b="1" spc="-20" dirty="0">
                <a:latin typeface="Times New Roman"/>
                <a:cs typeface="Times New Roman"/>
              </a:rPr>
              <a:t> </a:t>
            </a:r>
            <a:r>
              <a:rPr lang="en-IN" sz="2800" b="1" spc="-10" dirty="0">
                <a:latin typeface="Times New Roman"/>
                <a:cs typeface="Times New Roman"/>
              </a:rPr>
              <a:t>Engineering,</a:t>
            </a:r>
            <a:r>
              <a:rPr lang="en-IN" sz="2800" b="1" spc="-25" dirty="0">
                <a:latin typeface="Times New Roman"/>
                <a:cs typeface="Times New Roman"/>
              </a:rPr>
              <a:t> </a:t>
            </a:r>
            <a:r>
              <a:rPr lang="en-IN" sz="2800" b="1" spc="-5" dirty="0">
                <a:latin typeface="Times New Roman"/>
                <a:cs typeface="Times New Roman"/>
              </a:rPr>
              <a:t>Sangamner</a:t>
            </a:r>
          </a:p>
        </p:txBody>
      </p:sp>
      <p:graphicFrame>
        <p:nvGraphicFramePr>
          <p:cNvPr id="7" name="Table 6">
            <a:extLst>
              <a:ext uri="{FF2B5EF4-FFF2-40B4-BE49-F238E27FC236}">
                <a16:creationId xmlns:a16="http://schemas.microsoft.com/office/drawing/2014/main" id="{6A0DFD64-308A-023C-87A5-011E1AF56051}"/>
              </a:ext>
            </a:extLst>
          </p:cNvPr>
          <p:cNvGraphicFramePr>
            <a:graphicFrameLocks noGrp="1"/>
          </p:cNvGraphicFramePr>
          <p:nvPr>
            <p:extLst>
              <p:ext uri="{D42A27DB-BD31-4B8C-83A1-F6EECF244321}">
                <p14:modId xmlns:p14="http://schemas.microsoft.com/office/powerpoint/2010/main" val="275162505"/>
              </p:ext>
            </p:extLst>
          </p:nvPr>
        </p:nvGraphicFramePr>
        <p:xfrm>
          <a:off x="1995963" y="2761352"/>
          <a:ext cx="8191107" cy="2051080"/>
        </p:xfrm>
        <a:graphic>
          <a:graphicData uri="http://schemas.openxmlformats.org/drawingml/2006/table">
            <a:tbl>
              <a:tblPr firstRow="1">
                <a:tableStyleId>{5940675A-B579-460E-94D1-54222C63F5DA}</a:tableStyleId>
              </a:tblPr>
              <a:tblGrid>
                <a:gridCol w="2730369">
                  <a:extLst>
                    <a:ext uri="{9D8B030D-6E8A-4147-A177-3AD203B41FA5}">
                      <a16:colId xmlns:a16="http://schemas.microsoft.com/office/drawing/2014/main" val="629895459"/>
                    </a:ext>
                  </a:extLst>
                </a:gridCol>
                <a:gridCol w="2730369">
                  <a:extLst>
                    <a:ext uri="{9D8B030D-6E8A-4147-A177-3AD203B41FA5}">
                      <a16:colId xmlns:a16="http://schemas.microsoft.com/office/drawing/2014/main" val="1856441180"/>
                    </a:ext>
                  </a:extLst>
                </a:gridCol>
                <a:gridCol w="2730369">
                  <a:extLst>
                    <a:ext uri="{9D8B030D-6E8A-4147-A177-3AD203B41FA5}">
                      <a16:colId xmlns:a16="http://schemas.microsoft.com/office/drawing/2014/main" val="422069128"/>
                    </a:ext>
                  </a:extLst>
                </a:gridCol>
              </a:tblGrid>
              <a:tr h="410216">
                <a:tc>
                  <a:txBody>
                    <a:bodyPr/>
                    <a:lstStyle/>
                    <a:p>
                      <a:pPr algn="ctr"/>
                      <a:r>
                        <a:rPr lang="en-IN" dirty="0">
                          <a:latin typeface="+mj-lt"/>
                        </a:rPr>
                        <a:t>Name</a:t>
                      </a:r>
                      <a:endParaRPr lang="en-US" dirty="0">
                        <a:latin typeface="+mj-lt"/>
                      </a:endParaRPr>
                    </a:p>
                  </a:txBody>
                  <a:tcPr anchor="ctr"/>
                </a:tc>
                <a:tc>
                  <a:txBody>
                    <a:bodyPr/>
                    <a:lstStyle/>
                    <a:p>
                      <a:pPr algn="ctr"/>
                      <a:r>
                        <a:rPr lang="en-IN" dirty="0"/>
                        <a:t>Roll No.</a:t>
                      </a:r>
                      <a:endParaRPr lang="en-US" dirty="0"/>
                    </a:p>
                  </a:txBody>
                  <a:tcPr anchor="ctr"/>
                </a:tc>
                <a:tc>
                  <a:txBody>
                    <a:bodyPr/>
                    <a:lstStyle/>
                    <a:p>
                      <a:pPr algn="ctr"/>
                      <a:r>
                        <a:rPr lang="en-IN" dirty="0"/>
                        <a:t>Seat No.</a:t>
                      </a:r>
                      <a:endParaRPr lang="en-US" dirty="0"/>
                    </a:p>
                  </a:txBody>
                  <a:tcPr anchor="ctr"/>
                </a:tc>
                <a:extLst>
                  <a:ext uri="{0D108BD9-81ED-4DB2-BD59-A6C34878D82A}">
                    <a16:rowId xmlns:a16="http://schemas.microsoft.com/office/drawing/2014/main" val="405646558"/>
                  </a:ext>
                </a:extLst>
              </a:tr>
              <a:tr h="410216">
                <a:tc>
                  <a:txBody>
                    <a:bodyPr/>
                    <a:lstStyle/>
                    <a:p>
                      <a:pPr algn="ctr"/>
                      <a:r>
                        <a:rPr lang="en-IN" dirty="0" err="1"/>
                        <a:t>Sarang</a:t>
                      </a:r>
                      <a:r>
                        <a:rPr lang="en-IN" dirty="0"/>
                        <a:t> Deshpande </a:t>
                      </a:r>
                      <a:endParaRPr lang="en-US" dirty="0"/>
                    </a:p>
                  </a:txBody>
                  <a:tcPr anchor="ctr"/>
                </a:tc>
                <a:tc>
                  <a:txBody>
                    <a:bodyPr/>
                    <a:lstStyle/>
                    <a:p>
                      <a:pPr algn="ctr"/>
                      <a:r>
                        <a:rPr lang="en-IN" dirty="0"/>
                        <a:t>2116</a:t>
                      </a:r>
                      <a:endParaRPr lang="en-US" dirty="0"/>
                    </a:p>
                  </a:txBody>
                  <a:tcPr anchor="ctr"/>
                </a:tc>
                <a:tc>
                  <a:txBody>
                    <a:bodyPr/>
                    <a:lstStyle/>
                    <a:p>
                      <a:pPr algn="ctr"/>
                      <a:r>
                        <a:rPr lang="en-US" dirty="0"/>
                        <a:t>S1901004229</a:t>
                      </a:r>
                    </a:p>
                  </a:txBody>
                  <a:tcPr anchor="ctr"/>
                </a:tc>
                <a:extLst>
                  <a:ext uri="{0D108BD9-81ED-4DB2-BD59-A6C34878D82A}">
                    <a16:rowId xmlns:a16="http://schemas.microsoft.com/office/drawing/2014/main" val="3230073806"/>
                  </a:ext>
                </a:extLst>
              </a:tr>
              <a:tr h="410216">
                <a:tc>
                  <a:txBody>
                    <a:bodyPr/>
                    <a:lstStyle/>
                    <a:p>
                      <a:pPr algn="ctr"/>
                      <a:r>
                        <a:rPr lang="en-IN" dirty="0" err="1"/>
                        <a:t>Uday</a:t>
                      </a:r>
                      <a:r>
                        <a:rPr lang="en-IN" dirty="0"/>
                        <a:t> </a:t>
                      </a:r>
                      <a:r>
                        <a:rPr lang="en-IN" dirty="0" err="1"/>
                        <a:t>Dherange</a:t>
                      </a:r>
                      <a:r>
                        <a:rPr lang="en-IN" dirty="0"/>
                        <a:t> </a:t>
                      </a:r>
                      <a:endParaRPr lang="en-US" dirty="0"/>
                    </a:p>
                  </a:txBody>
                  <a:tcPr anchor="ctr"/>
                </a:tc>
                <a:tc>
                  <a:txBody>
                    <a:bodyPr/>
                    <a:lstStyle/>
                    <a:p>
                      <a:pPr algn="ctr"/>
                      <a:r>
                        <a:rPr lang="en-IN" dirty="0"/>
                        <a:t>2117</a:t>
                      </a:r>
                      <a:endParaRPr lang="en-US" dirty="0"/>
                    </a:p>
                  </a:txBody>
                  <a:tcPr anchor="ctr"/>
                </a:tc>
                <a:tc>
                  <a:txBody>
                    <a:bodyPr/>
                    <a:lstStyle/>
                    <a:p>
                      <a:pPr algn="ctr"/>
                      <a:r>
                        <a:rPr lang="en-US" dirty="0"/>
                        <a:t>S1901004391</a:t>
                      </a:r>
                    </a:p>
                  </a:txBody>
                  <a:tcPr anchor="ctr"/>
                </a:tc>
                <a:extLst>
                  <a:ext uri="{0D108BD9-81ED-4DB2-BD59-A6C34878D82A}">
                    <a16:rowId xmlns:a16="http://schemas.microsoft.com/office/drawing/2014/main" val="2445906370"/>
                  </a:ext>
                </a:extLst>
              </a:tr>
              <a:tr h="410216">
                <a:tc>
                  <a:txBody>
                    <a:bodyPr/>
                    <a:lstStyle/>
                    <a:p>
                      <a:pPr algn="ctr"/>
                      <a:r>
                        <a:rPr lang="en-IN" dirty="0" err="1"/>
                        <a:t>Akshad</a:t>
                      </a:r>
                      <a:r>
                        <a:rPr lang="en-IN" dirty="0"/>
                        <a:t> </a:t>
                      </a:r>
                      <a:r>
                        <a:rPr lang="en-IN" dirty="0" err="1"/>
                        <a:t>Ambekar</a:t>
                      </a:r>
                      <a:endParaRPr lang="en-US" dirty="0"/>
                    </a:p>
                  </a:txBody>
                  <a:tcPr anchor="ctr"/>
                </a:tc>
                <a:tc>
                  <a:txBody>
                    <a:bodyPr/>
                    <a:lstStyle/>
                    <a:p>
                      <a:pPr algn="ctr"/>
                      <a:r>
                        <a:rPr lang="en-IN" dirty="0"/>
                        <a:t>2103</a:t>
                      </a:r>
                      <a:endParaRPr lang="en-US" dirty="0"/>
                    </a:p>
                  </a:txBody>
                  <a:tcPr anchor="ctr"/>
                </a:tc>
                <a:tc>
                  <a:txBody>
                    <a:bodyPr/>
                    <a:lstStyle/>
                    <a:p>
                      <a:pPr algn="ctr"/>
                      <a:r>
                        <a:rPr lang="en-US" dirty="0"/>
                        <a:t>S1901004204</a:t>
                      </a:r>
                    </a:p>
                  </a:txBody>
                  <a:tcPr anchor="ctr"/>
                </a:tc>
                <a:extLst>
                  <a:ext uri="{0D108BD9-81ED-4DB2-BD59-A6C34878D82A}">
                    <a16:rowId xmlns:a16="http://schemas.microsoft.com/office/drawing/2014/main" val="1322431993"/>
                  </a:ext>
                </a:extLst>
              </a:tr>
              <a:tr h="410216">
                <a:tc>
                  <a:txBody>
                    <a:bodyPr/>
                    <a:lstStyle/>
                    <a:p>
                      <a:pPr algn="ctr"/>
                      <a:r>
                        <a:rPr lang="en-IN" dirty="0"/>
                        <a:t>Sai </a:t>
                      </a:r>
                      <a:r>
                        <a:rPr lang="en-IN" dirty="0" err="1"/>
                        <a:t>Abhang</a:t>
                      </a:r>
                      <a:endParaRPr lang="en-US" dirty="0"/>
                    </a:p>
                  </a:txBody>
                  <a:tcPr anchor="ctr"/>
                </a:tc>
                <a:tc>
                  <a:txBody>
                    <a:bodyPr/>
                    <a:lstStyle/>
                    <a:p>
                      <a:pPr algn="ctr"/>
                      <a:r>
                        <a:rPr lang="en-IN" dirty="0"/>
                        <a:t>2101</a:t>
                      </a:r>
                      <a:endParaRPr lang="en-US" dirty="0"/>
                    </a:p>
                  </a:txBody>
                  <a:tcPr anchor="ctr"/>
                </a:tc>
                <a:tc>
                  <a:txBody>
                    <a:bodyPr/>
                    <a:lstStyle/>
                    <a:p>
                      <a:pPr algn="ctr"/>
                      <a:r>
                        <a:rPr lang="en-US" dirty="0"/>
                        <a:t>S1901004201</a:t>
                      </a:r>
                    </a:p>
                  </a:txBody>
                  <a:tcPr anchor="ctr"/>
                </a:tc>
                <a:extLst>
                  <a:ext uri="{0D108BD9-81ED-4DB2-BD59-A6C34878D82A}">
                    <a16:rowId xmlns:a16="http://schemas.microsoft.com/office/drawing/2014/main" val="3420775162"/>
                  </a:ext>
                </a:extLst>
              </a:tr>
            </a:tbl>
          </a:graphicData>
        </a:graphic>
      </p:graphicFrame>
      <p:sp>
        <p:nvSpPr>
          <p:cNvPr id="8" name="TextBox 7">
            <a:extLst>
              <a:ext uri="{FF2B5EF4-FFF2-40B4-BE49-F238E27FC236}">
                <a16:creationId xmlns:a16="http://schemas.microsoft.com/office/drawing/2014/main" id="{BBCF2B2E-4A2B-B00B-8C2A-07D35B768299}"/>
              </a:ext>
            </a:extLst>
          </p:cNvPr>
          <p:cNvSpPr txBox="1"/>
          <p:nvPr/>
        </p:nvSpPr>
        <p:spPr>
          <a:xfrm>
            <a:off x="5177117" y="2201141"/>
            <a:ext cx="1828800" cy="369332"/>
          </a:xfrm>
          <a:prstGeom prst="rect">
            <a:avLst/>
          </a:prstGeom>
          <a:noFill/>
        </p:spPr>
        <p:txBody>
          <a:bodyPr wrap="square" rtlCol="0" anchor="ctr">
            <a:spAutoFit/>
          </a:bodyPr>
          <a:lstStyle/>
          <a:p>
            <a:pPr algn="ctr"/>
            <a:r>
              <a:rPr lang="en-IN" dirty="0">
                <a:latin typeface="Times New Roman" panose="02020603050405020304" pitchFamily="18" charset="0"/>
                <a:cs typeface="Times New Roman" panose="02020603050405020304" pitchFamily="18" charset="0"/>
              </a:rPr>
              <a:t>Presented by</a:t>
            </a:r>
          </a:p>
        </p:txBody>
      </p:sp>
      <p:sp>
        <p:nvSpPr>
          <p:cNvPr id="10" name="TextBox 9">
            <a:extLst>
              <a:ext uri="{FF2B5EF4-FFF2-40B4-BE49-F238E27FC236}">
                <a16:creationId xmlns:a16="http://schemas.microsoft.com/office/drawing/2014/main" id="{292DC6FD-0D3F-D147-556F-70CE4DE4857D}"/>
              </a:ext>
            </a:extLst>
          </p:cNvPr>
          <p:cNvSpPr txBox="1"/>
          <p:nvPr/>
        </p:nvSpPr>
        <p:spPr>
          <a:xfrm>
            <a:off x="4673474" y="5117418"/>
            <a:ext cx="2836086" cy="738664"/>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Under the guidance of</a:t>
            </a:r>
            <a:br>
              <a:rPr lang="en-IN" dirty="0">
                <a:latin typeface="Times New Roman" panose="02020603050405020304" pitchFamily="18" charset="0"/>
                <a:cs typeface="Times New Roman" panose="02020603050405020304" pitchFamily="18" charset="0"/>
              </a:rPr>
            </a:br>
            <a:r>
              <a:rPr lang="en-IN" sz="2400" b="1" spc="-5" dirty="0">
                <a:solidFill>
                  <a:srgbClr val="C00000"/>
                </a:solidFill>
                <a:latin typeface="Times New Roman" panose="02020603050405020304" pitchFamily="18" charset="0"/>
                <a:cs typeface="Times New Roman" panose="02020603050405020304" pitchFamily="18" charset="0"/>
              </a:rPr>
              <a:t>Prof. A. R. Nehe</a:t>
            </a:r>
            <a:endParaRPr lang="en-IN" sz="1800" b="1" spc="-5"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0928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72187" y="1205281"/>
            <a:ext cx="5123813" cy="5295360"/>
          </a:xfrm>
          <a:prstGeom prst="rect">
            <a:avLst/>
          </a:prstGeom>
        </p:spPr>
        <p:txBody>
          <a:bodyPr vert="horz" wrap="square" lIns="0" tIns="120650" rIns="0" bIns="0" rtlCol="0">
            <a:spAutoFit/>
          </a:bodyPr>
          <a:lstStyle/>
          <a:p>
            <a:pPr marL="202565" indent="-190500" algn="just">
              <a:lnSpc>
                <a:spcPct val="150000"/>
              </a:lnSpc>
              <a:spcBef>
                <a:spcPts val="950"/>
              </a:spcBef>
              <a:buFont typeface="Arial MT"/>
              <a:buChar char="•"/>
              <a:tabLst>
                <a:tab pos="203200" algn="l"/>
              </a:tabLst>
            </a:pPr>
            <a:r>
              <a:rPr sz="2400" dirty="0">
                <a:latin typeface="Times New Roman" panose="02020603050405020304" pitchFamily="18" charset="0"/>
                <a:cs typeface="Times New Roman" panose="02020603050405020304" pitchFamily="18" charset="0"/>
              </a:rPr>
              <a:t>Introduction</a:t>
            </a:r>
          </a:p>
          <a:p>
            <a:pPr marL="202565" indent="-190500" algn="just">
              <a:lnSpc>
                <a:spcPct val="150000"/>
              </a:lnSpc>
              <a:spcBef>
                <a:spcPts val="85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Need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project</a:t>
            </a: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Problem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Statement/Aim</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Objectives</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Literature</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Review</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Methodology/</a:t>
            </a:r>
            <a:r>
              <a:rPr sz="2400" spc="-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Flow</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chart</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Design</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Model</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Assembly</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working</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Model</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grpSp>
        <p:nvGrpSpPr>
          <p:cNvPr id="5" name="object 5"/>
          <p:cNvGrpSpPr/>
          <p:nvPr/>
        </p:nvGrpSpPr>
        <p:grpSpPr>
          <a:xfrm>
            <a:off x="493778" y="365125"/>
            <a:ext cx="10860405" cy="993775"/>
            <a:chOff x="493778" y="365125"/>
            <a:chExt cx="10860405" cy="993775"/>
          </a:xfrm>
        </p:grpSpPr>
        <p:pic>
          <p:nvPicPr>
            <p:cNvPr id="6" name="object 6"/>
            <p:cNvPicPr/>
            <p:nvPr/>
          </p:nvPicPr>
          <p:blipFill>
            <a:blip r:embed="rId2"/>
            <a:stretch>
              <a:fillRect/>
            </a:stretch>
          </p:blipFill>
          <p:spPr>
            <a:xfrm>
              <a:off x="493778" y="372587"/>
              <a:ext cx="10815574" cy="985727"/>
            </a:xfrm>
            <a:prstGeom prst="rect">
              <a:avLst/>
            </a:prstGeom>
          </p:spPr>
        </p:pic>
        <p:pic>
          <p:nvPicPr>
            <p:cNvPr id="7" name="object 7"/>
            <p:cNvPicPr/>
            <p:nvPr/>
          </p:nvPicPr>
          <p:blipFill>
            <a:blip r:embed="rId3"/>
            <a:stretch>
              <a:fillRect/>
            </a:stretch>
          </p:blipFill>
          <p:spPr>
            <a:xfrm>
              <a:off x="838200" y="365125"/>
              <a:ext cx="10515599" cy="685752"/>
            </a:xfrm>
            <a:prstGeom prst="rect">
              <a:avLst/>
            </a:prstGeom>
          </p:spPr>
        </p:pic>
        <p:pic>
          <p:nvPicPr>
            <p:cNvPr id="8" name="object 8"/>
            <p:cNvPicPr/>
            <p:nvPr/>
          </p:nvPicPr>
          <p:blipFill>
            <a:blip r:embed="rId2"/>
            <a:stretch>
              <a:fillRect/>
            </a:stretch>
          </p:blipFill>
          <p:spPr>
            <a:xfrm>
              <a:off x="493778" y="372587"/>
              <a:ext cx="10815574" cy="985727"/>
            </a:xfrm>
            <a:prstGeom prst="rect">
              <a:avLst/>
            </a:prstGeom>
          </p:spPr>
        </p:pic>
        <p:pic>
          <p:nvPicPr>
            <p:cNvPr id="9" name="object 9"/>
            <p:cNvPicPr/>
            <p:nvPr/>
          </p:nvPicPr>
          <p:blipFill>
            <a:blip r:embed="rId3"/>
            <a:stretch>
              <a:fillRect/>
            </a:stretch>
          </p:blipFill>
          <p:spPr>
            <a:xfrm>
              <a:off x="838200" y="365125"/>
              <a:ext cx="10515599" cy="685752"/>
            </a:xfrm>
            <a:prstGeom prst="rect">
              <a:avLst/>
            </a:prstGeom>
          </p:spPr>
        </p:pic>
      </p:grpSp>
      <p:sp>
        <p:nvSpPr>
          <p:cNvPr id="10" name="object 10"/>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gn="l">
              <a:lnSpc>
                <a:spcPct val="100000"/>
              </a:lnSpc>
              <a:spcBef>
                <a:spcPts val="100"/>
              </a:spcBef>
            </a:pPr>
            <a:r>
              <a:rPr lang="en-IN" b="1" dirty="0">
                <a:latin typeface="Arial Black" panose="020B0604020202020204" pitchFamily="34" charset="0"/>
                <a:cs typeface="Arial Black" panose="020B0604020202020204" pitchFamily="34" charset="0"/>
              </a:rPr>
              <a:t>CONTENTS</a:t>
            </a:r>
            <a:endParaRPr b="1" dirty="0">
              <a:latin typeface="Arial Black" panose="020B0604020202020204" pitchFamily="34" charset="0"/>
              <a:cs typeface="Arial Black" panose="020B0604020202020204" pitchFamily="34" charset="0"/>
            </a:endParaRPr>
          </a:p>
        </p:txBody>
      </p:sp>
      <p:sp>
        <p:nvSpPr>
          <p:cNvPr id="12" name="object 12"/>
          <p:cNvSpPr txBox="1">
            <a:spLocks noGrp="1"/>
          </p:cNvSpPr>
          <p:nvPr>
            <p:ph type="dt" sz="half" idx="6"/>
          </p:nvPr>
        </p:nvSpPr>
        <p:spPr>
          <a:xfrm>
            <a:off x="301057" y="6462098"/>
            <a:ext cx="736600" cy="179536"/>
          </a:xfrm>
          <a:prstGeom prst="rect">
            <a:avLst/>
          </a:prstGeom>
        </p:spPr>
        <p:txBody>
          <a:bodyPr vert="horz" wrap="square" lIns="0" tIns="0" rIns="0" bIns="0" rtlCol="0">
            <a:spAutoFit/>
          </a:bodyPr>
          <a:lstStyle/>
          <a:p>
            <a:pPr marL="12700">
              <a:lnSpc>
                <a:spcPts val="1410"/>
              </a:lnSpc>
            </a:pPr>
            <a:r>
              <a:rPr lang="en-IN" dirty="0"/>
              <a:t>19-04-2024</a:t>
            </a:r>
            <a:endParaRPr dirty="0"/>
          </a:p>
        </p:txBody>
      </p:sp>
      <p:sp>
        <p:nvSpPr>
          <p:cNvPr id="13" name="object 13"/>
          <p:cNvSpPr txBox="1">
            <a:spLocks noGrp="1"/>
          </p:cNvSpPr>
          <p:nvPr>
            <p:ph type="sldNum" sz="quarter" idx="7"/>
          </p:nvPr>
        </p:nvSpPr>
        <p:spPr>
          <a:xfrm>
            <a:off x="11573377" y="6471377"/>
            <a:ext cx="254000" cy="208250"/>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2</a:t>
            </a:fld>
            <a:endParaRPr dirty="0"/>
          </a:p>
        </p:txBody>
      </p:sp>
      <p:sp>
        <p:nvSpPr>
          <p:cNvPr id="3" name="TextBox 2">
            <a:extLst>
              <a:ext uri="{FF2B5EF4-FFF2-40B4-BE49-F238E27FC236}">
                <a16:creationId xmlns:a16="http://schemas.microsoft.com/office/drawing/2014/main" id="{068A95F5-9517-6DCE-7C55-ED8305C652F6}"/>
              </a:ext>
            </a:extLst>
          </p:cNvPr>
          <p:cNvSpPr txBox="1"/>
          <p:nvPr/>
        </p:nvSpPr>
        <p:spPr>
          <a:xfrm>
            <a:off x="6096000" y="1365776"/>
            <a:ext cx="5123812" cy="2588209"/>
          </a:xfrm>
          <a:prstGeom prst="rect">
            <a:avLst/>
          </a:prstGeom>
          <a:noFill/>
        </p:spPr>
        <p:txBody>
          <a:bodyPr wrap="square" rtlCol="0">
            <a:spAutoFit/>
          </a:bodyPr>
          <a:lstStyle/>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Results</a:t>
            </a:r>
            <a:r>
              <a:rPr lang="en-US" sz="2400" spc="-2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1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project</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discussions</a:t>
            </a: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Future</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scope</a:t>
            </a:r>
            <a:endParaRPr lang="en-US"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nSpc>
                <a:spcPct val="100000"/>
              </a:lnSpc>
              <a:spcBef>
                <a:spcPts val="100"/>
              </a:spcBef>
            </a:pPr>
            <a:r>
              <a:rPr spc="-5" dirty="0"/>
              <a:t>Introduction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pPr algn="ctr"/>
            <a:endParaRPr dirty="0"/>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3</a:t>
            </a:fld>
            <a:endParaRPr dirty="0"/>
          </a:p>
        </p:txBody>
      </p:sp>
      <p:sp>
        <p:nvSpPr>
          <p:cNvPr id="8" name="TextBox 7">
            <a:extLst>
              <a:ext uri="{FF2B5EF4-FFF2-40B4-BE49-F238E27FC236}">
                <a16:creationId xmlns:a16="http://schemas.microsoft.com/office/drawing/2014/main" id="{CF96633B-227C-4B85-9C57-33834333B64D}"/>
              </a:ext>
            </a:extLst>
          </p:cNvPr>
          <p:cNvSpPr txBox="1"/>
          <p:nvPr/>
        </p:nvSpPr>
        <p:spPr>
          <a:xfrm>
            <a:off x="911225" y="1981200"/>
            <a:ext cx="10662152" cy="369332"/>
          </a:xfrm>
          <a:prstGeom prst="rect">
            <a:avLst/>
          </a:prstGeom>
          <a:noFill/>
        </p:spPr>
        <p:txBody>
          <a:bodyPr wrap="square" rtlCol="0">
            <a:spAutoFit/>
          </a:bodyPr>
          <a:lstStyle/>
          <a:p>
            <a:endParaRPr lang="en-IN"/>
          </a:p>
        </p:txBody>
      </p:sp>
      <p:pic>
        <p:nvPicPr>
          <p:cNvPr id="2049" name="Picture 7005">
            <a:extLst>
              <a:ext uri="{FF2B5EF4-FFF2-40B4-BE49-F238E27FC236}">
                <a16:creationId xmlns:a16="http://schemas.microsoft.com/office/drawing/2014/main" id="{753D465C-44D2-4019-8166-883F65CD42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457200"/>
            <a:ext cx="7938" cy="793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a:extLst>
              <a:ext uri="{FF2B5EF4-FFF2-40B4-BE49-F238E27FC236}">
                <a16:creationId xmlns:a16="http://schemas.microsoft.com/office/drawing/2014/main" id="{1AE0D98F-C360-4D51-9AAB-B7D614F84BB9}"/>
              </a:ext>
            </a:extLst>
          </p:cNvPr>
          <p:cNvSpPr>
            <a:spLocks noChangeArrowheads="1"/>
          </p:cNvSpPr>
          <p:nvPr/>
        </p:nvSpPr>
        <p:spPr bwMode="auto">
          <a:xfrm>
            <a:off x="-10160" y="1777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5">
            <a:extLst>
              <a:ext uri="{FF2B5EF4-FFF2-40B4-BE49-F238E27FC236}">
                <a16:creationId xmlns:a16="http://schemas.microsoft.com/office/drawing/2014/main" id="{89861C16-344E-4A91-9FE8-6A596401456D}"/>
              </a:ext>
            </a:extLst>
          </p:cNvPr>
          <p:cNvSpPr>
            <a:spLocks noChangeArrowheads="1"/>
          </p:cNvSpPr>
          <p:nvPr/>
        </p:nvSpPr>
        <p:spPr bwMode="auto">
          <a:xfrm rot="10800000" flipV="1">
            <a:off x="838199" y="1011126"/>
            <a:ext cx="10442575" cy="334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90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6350" algn="just">
              <a:lnSpc>
                <a:spcPct val="150000"/>
              </a:lnSpc>
            </a:pPr>
            <a:endParaRPr kumimoji="0" lang="en-US" altLang="en-US" sz="2400" dirty="0">
              <a:solidFill>
                <a:srgbClr val="000000"/>
              </a:solidFill>
              <a:ea typeface="Times New Roman" panose="02020603050405020304" pitchFamily="18" charset="0"/>
              <a:cs typeface="Times New Roman" panose="02020603050405020304" pitchFamily="18" charset="0"/>
            </a:endParaRPr>
          </a:p>
          <a:p>
            <a:pPr indent="6350" algn="just">
              <a:lnSpc>
                <a:spcPct val="150000"/>
              </a:lnSpc>
            </a:pP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Project on a Python-based voice assistant </a:t>
            </a:r>
            <a:r>
              <a:rPr kumimoji="0" lang="en-IN"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involves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designing and building a voice-controlled assistant that can perform </a:t>
            </a: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basic tasks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based on user commands</a:t>
            </a: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as it is free of source</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goal of the project </a:t>
            </a:r>
            <a:r>
              <a:rPr lang="en-IN"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develop an assistant that can understand natural language input, process it using various Python libraries</a:t>
            </a:r>
            <a:r>
              <a:rPr kumimoji="0" lang="en-IN"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respond with appropriate output</a:t>
            </a:r>
            <a:r>
              <a:rPr kumimoji="0" lang="en-US" altLang="en-US" sz="2400" b="0" i="0" u="none" strike="noStrike" cap="none" normalizeH="0" baseline="0" dirty="0">
                <a:ln>
                  <a:noFill/>
                </a:ln>
                <a:solidFill>
                  <a:srgbClr val="000000"/>
                </a:solidFill>
                <a:effectLst/>
                <a:latin typeface="Arial"/>
                <a:ea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Aria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4333875" cy="513080"/>
          </a:xfrm>
          <a:prstGeom prst="rect">
            <a:avLst/>
          </a:prstGeom>
        </p:spPr>
        <p:txBody>
          <a:bodyPr vert="horz" wrap="square" lIns="0" tIns="12700" rIns="0" bIns="0" rtlCol="0">
            <a:spAutoFit/>
          </a:bodyPr>
          <a:lstStyle/>
          <a:p>
            <a:pPr marL="12700">
              <a:lnSpc>
                <a:spcPct val="100000"/>
              </a:lnSpc>
              <a:spcBef>
                <a:spcPts val="100"/>
              </a:spcBef>
            </a:pPr>
            <a:r>
              <a:rPr spc="-5" dirty="0"/>
              <a:t>Need</a:t>
            </a:r>
            <a:r>
              <a:rPr spc="-35" dirty="0"/>
              <a:t> </a:t>
            </a:r>
            <a:r>
              <a:rPr spc="-5" dirty="0"/>
              <a:t>of</a:t>
            </a:r>
            <a:r>
              <a:rPr spc="-35" dirty="0"/>
              <a:t> </a:t>
            </a:r>
            <a:r>
              <a:rPr spc="-10" dirty="0"/>
              <a:t>the</a:t>
            </a:r>
            <a:r>
              <a:rPr spc="-40" dirty="0"/>
              <a:t> </a:t>
            </a:r>
            <a:r>
              <a:rPr spc="-5" dirty="0"/>
              <a:t>Project</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a:pPr marL="38100" algn="ctr">
                <a:lnSpc>
                  <a:spcPts val="1630"/>
                </a:lnSpc>
              </a:pPr>
              <a:t>4</a:t>
            </a:fld>
            <a:endParaRPr dirty="0"/>
          </a:p>
        </p:txBody>
      </p:sp>
      <p:sp>
        <p:nvSpPr>
          <p:cNvPr id="8" name="TextBox 7">
            <a:extLst>
              <a:ext uri="{FF2B5EF4-FFF2-40B4-BE49-F238E27FC236}">
                <a16:creationId xmlns:a16="http://schemas.microsoft.com/office/drawing/2014/main" id="{2DD05696-71FF-424C-AA0C-62B958AC97B8}"/>
              </a:ext>
            </a:extLst>
          </p:cNvPr>
          <p:cNvSpPr txBox="1"/>
          <p:nvPr/>
        </p:nvSpPr>
        <p:spPr>
          <a:xfrm>
            <a:off x="911225" y="1092118"/>
            <a:ext cx="10213976" cy="5262979"/>
          </a:xfrm>
          <a:prstGeom prst="rect">
            <a:avLst/>
          </a:prstGeom>
          <a:noFill/>
        </p:spPr>
        <p:txBody>
          <a:bodyPr wrap="square" lIns="91440" tIns="45720" rIns="91440" bIns="45720" rtlCol="0" anchor="t">
            <a:spAutoFit/>
          </a:bodyPr>
          <a:lstStyle/>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What is the need of this project?</a:t>
            </a:r>
          </a:p>
          <a:p>
            <a:pPr algn="just"/>
            <a:r>
              <a:rPr lang="en-US" sz="2400" b="1" dirty="0">
                <a:latin typeface="Times New Roman" panose="02020603050405020304" pitchFamily="18" charset="0"/>
                <a:cs typeface="Times New Roman" panose="02020603050405020304" pitchFamily="18" charset="0"/>
              </a:rPr>
              <a:t>Why are we designing this project?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several reasons why there’s a need for voice assistants in today's world. </a:t>
            </a:r>
          </a:p>
          <a:p>
            <a:pPr algn="just"/>
            <a:r>
              <a:rPr lang="en-US" sz="2400" dirty="0">
                <a:latin typeface="Times New Roman" panose="02020603050405020304" pitchFamily="18" charset="0"/>
                <a:cs typeface="Times New Roman" panose="02020603050405020304" pitchFamily="18" charset="0"/>
              </a:rPr>
              <a:t>Here are a few :</a:t>
            </a:r>
          </a:p>
          <a:p>
            <a:pPr algn="just"/>
            <a:endParaRPr lang="en-US" sz="2400" i="1" u="sng"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Convenience</a:t>
            </a:r>
            <a:r>
              <a:rPr lang="en-US" sz="2400" dirty="0">
                <a:latin typeface="Times New Roman" panose="02020603050405020304" pitchFamily="18" charset="0"/>
                <a:cs typeface="Times New Roman" panose="02020603050405020304" pitchFamily="18" charset="0"/>
              </a:rPr>
              <a:t>: Voice assistants allow users to interact with technology hands-free, making tasks more convenient and efficient. Users can complete various tasks without having to physically interact with their devices</a:t>
            </a:r>
          </a:p>
          <a:p>
            <a:pPr algn="just"/>
            <a:endParaRPr lang="en-US" sz="2400" i="1" u="sng"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Personalization</a:t>
            </a:r>
            <a:r>
              <a:rPr lang="en-US" sz="2400" dirty="0">
                <a:latin typeface="Times New Roman" panose="02020603050405020304" pitchFamily="18" charset="0"/>
                <a:cs typeface="Times New Roman" panose="02020603050405020304" pitchFamily="18" charset="0"/>
              </a:rPr>
              <a:t>: Voice assistants can learn about a user's preferences and behavior patterns, allowing them to provide personalized recommendations and suggestions. This can help users save time and make their lives easier.</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89D2855-5D77-44BF-9D96-6DEC965BE1A6}"/>
              </a:ext>
            </a:extLst>
          </p:cNvPr>
          <p:cNvSpPr>
            <a:spLocks noGrp="1"/>
          </p:cNvSpPr>
          <p:nvPr>
            <p:ph type="title"/>
          </p:nvPr>
        </p:nvSpPr>
        <p:spPr>
          <a:xfrm>
            <a:off x="911225" y="420956"/>
            <a:ext cx="10369550" cy="984885"/>
          </a:xfrm>
        </p:spPr>
        <p:txBody>
          <a:bodyPr/>
          <a:lstStyle/>
          <a:p>
            <a:r>
              <a:rPr lang="en-IN" sz="3200" b="1" spc="-5" dirty="0">
                <a:latin typeface="Arial Black" panose="020B0604020202020204" pitchFamily="34" charset="0"/>
                <a:cs typeface="Arial Black" panose="020B0604020202020204" pitchFamily="34" charset="0"/>
              </a:rPr>
              <a:t>Problem</a:t>
            </a:r>
            <a:r>
              <a:rPr lang="en-IN" sz="3200" b="1" spc="-50" dirty="0">
                <a:latin typeface="Arial Black" panose="020B0604020202020204" pitchFamily="34" charset="0"/>
                <a:cs typeface="Arial Black" panose="020B0604020202020204" pitchFamily="34" charset="0"/>
              </a:rPr>
              <a:t> </a:t>
            </a:r>
            <a:r>
              <a:rPr lang="en-IN" sz="3200" b="1" spc="-5" dirty="0">
                <a:latin typeface="Arial Black" panose="020B0604020202020204" pitchFamily="34" charset="0"/>
                <a:cs typeface="Arial Black" panose="020B0604020202020204" pitchFamily="34" charset="0"/>
              </a:rPr>
              <a:t>Statement/Aim</a:t>
            </a:r>
            <a:br>
              <a:rPr lang="en-IN" sz="3200" dirty="0">
                <a:latin typeface="Times New Roman"/>
                <a:cs typeface="Times New Roman"/>
              </a:rPr>
            </a:br>
            <a:endParaRPr lang="en-IN" dirty="0"/>
          </a:p>
        </p:txBody>
      </p:sp>
      <p:sp>
        <p:nvSpPr>
          <p:cNvPr id="14" name="TextBox 13">
            <a:extLst>
              <a:ext uri="{FF2B5EF4-FFF2-40B4-BE49-F238E27FC236}">
                <a16:creationId xmlns:a16="http://schemas.microsoft.com/office/drawing/2014/main" id="{2744C40A-4D4E-4F2F-AB46-6485B2E91CCA}"/>
              </a:ext>
            </a:extLst>
          </p:cNvPr>
          <p:cNvSpPr txBox="1"/>
          <p:nvPr/>
        </p:nvSpPr>
        <p:spPr>
          <a:xfrm>
            <a:off x="911225" y="1066800"/>
            <a:ext cx="10290175" cy="3903954"/>
          </a:xfrm>
          <a:prstGeom prst="rect">
            <a:avLst/>
          </a:prstGeom>
          <a:noFill/>
        </p:spPr>
        <p:txBody>
          <a:bodyPr wrap="square" rtlCol="0">
            <a:sp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W</a:t>
            </a:r>
            <a:r>
              <a:rPr lang="en-IN" sz="2400" dirty="0">
                <a:latin typeface="Times New Roman" panose="02020603050405020304" pitchFamily="18" charset="0"/>
                <a:cs typeface="Times New Roman" panose="02020603050405020304" pitchFamily="18" charset="0"/>
              </a:rPr>
              <a:t>e all are </a:t>
            </a:r>
            <a:r>
              <a:rPr lang="en-US" sz="2400" dirty="0">
                <a:latin typeface="Times New Roman" panose="02020603050405020304" pitchFamily="18" charset="0"/>
                <a:cs typeface="Times New Roman" panose="02020603050405020304" pitchFamily="18" charset="0"/>
              </a:rPr>
              <a:t>well aware about Siri, Google Assistant and many other virtual assistants which are designed to aid the tasks of users in Windows, Android, and iOS platforms. But to our aim is to know how these things actually work.</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It looks very fascinating how these applications work and we aspire to tell everyone how we can develop these by using some coding knowledge.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395855" cy="513080"/>
          </a:xfrm>
          <a:prstGeom prst="rect">
            <a:avLst/>
          </a:prstGeom>
        </p:spPr>
        <p:txBody>
          <a:bodyPr vert="horz" wrap="square" lIns="0" tIns="12700" rIns="0" bIns="0" rtlCol="0">
            <a:spAutoFit/>
          </a:bodyPr>
          <a:lstStyle/>
          <a:p>
            <a:pPr marL="12700">
              <a:lnSpc>
                <a:spcPct val="100000"/>
              </a:lnSpc>
              <a:spcBef>
                <a:spcPts val="100"/>
              </a:spcBef>
            </a:pPr>
            <a:r>
              <a:t>Objectives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6</a:t>
            </a:fld>
            <a:endParaRPr/>
          </a:p>
        </p:txBody>
      </p:sp>
      <p:sp>
        <p:nvSpPr>
          <p:cNvPr id="8" name="TextBox 7">
            <a:extLst>
              <a:ext uri="{FF2B5EF4-FFF2-40B4-BE49-F238E27FC236}">
                <a16:creationId xmlns:a16="http://schemas.microsoft.com/office/drawing/2014/main" id="{AC5979A6-7589-4C3F-92A5-FB0CFDC50E27}"/>
              </a:ext>
            </a:extLst>
          </p:cNvPr>
          <p:cNvSpPr txBox="1"/>
          <p:nvPr/>
        </p:nvSpPr>
        <p:spPr>
          <a:xfrm>
            <a:off x="838200" y="1026147"/>
            <a:ext cx="10411962" cy="5565947"/>
          </a:xfrm>
          <a:prstGeom prst="rect">
            <a:avLst/>
          </a:prstGeom>
          <a:noFill/>
        </p:spPr>
        <p:txBody>
          <a:bodyPr wrap="square" lIns="91440" tIns="45720" rIns="91440" bIns="45720" rtlCol="0" anchor="t">
            <a:spAutoFit/>
          </a:bodyPr>
          <a:lstStyle/>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The objectives of our project are as follows:</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keeps listening continuously for hot-word and wakes up into action when called with its name.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Browsing through the web based on the individual’s spoken parameters and then issuing a desired output through input, and at the same time, it will print the output on the screen. Other useful services such as </a:t>
            </a:r>
            <a:r>
              <a:rPr lang="en-US" sz="2400" b="1" dirty="0">
                <a:latin typeface="Times New Roman" panose="02020603050405020304" pitchFamily="18" charset="0"/>
                <a:cs typeface="Times New Roman" panose="02020603050405020304" pitchFamily="18" charset="0"/>
              </a:rPr>
              <a:t>playing news, browsing weather forecasts, play music, setting alarms, calculations</a:t>
            </a:r>
            <a:r>
              <a:rPr lang="en-US" sz="2400" dirty="0">
                <a:latin typeface="Times New Roman" panose="02020603050405020304" pitchFamily="18" charset="0"/>
                <a:cs typeface="Times New Roman" panose="02020603050405020304" pitchFamily="18" charset="0"/>
              </a:rPr>
              <a:t>, etc. are provided as a result of spoken commands.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60405" cy="993775"/>
            <a:chOff x="493778" y="365125"/>
            <a:chExt cx="10860405" cy="993775"/>
          </a:xfrm>
        </p:grpSpPr>
        <p:pic>
          <p:nvPicPr>
            <p:cNvPr id="3" name="object 3"/>
            <p:cNvPicPr/>
            <p:nvPr/>
          </p:nvPicPr>
          <p:blipFill>
            <a:blip r:embed="rId2"/>
            <a:stretch>
              <a:fillRect/>
            </a:stretch>
          </p:blipFill>
          <p:spPr>
            <a:xfrm>
              <a:off x="493778" y="372587"/>
              <a:ext cx="10815574" cy="985727"/>
            </a:xfrm>
            <a:prstGeom prst="rect">
              <a:avLst/>
            </a:prstGeom>
          </p:spPr>
        </p:pic>
        <p:pic>
          <p:nvPicPr>
            <p:cNvPr id="4" name="object 4"/>
            <p:cNvPicPr/>
            <p:nvPr/>
          </p:nvPicPr>
          <p:blipFill>
            <a:blip r:embed="rId3"/>
            <a:stretch>
              <a:fillRect/>
            </a:stretch>
          </p:blipFill>
          <p:spPr>
            <a:xfrm>
              <a:off x="838200" y="365125"/>
              <a:ext cx="10515599" cy="685752"/>
            </a:xfrm>
            <a:prstGeom prst="rect">
              <a:avLst/>
            </a:prstGeom>
          </p:spPr>
        </p:pic>
      </p:grpSp>
      <p:sp>
        <p:nvSpPr>
          <p:cNvPr id="5" name="object 5"/>
          <p:cNvSpPr txBox="1">
            <a:spLocks noGrp="1"/>
          </p:cNvSpPr>
          <p:nvPr>
            <p:ph type="title"/>
          </p:nvPr>
        </p:nvSpPr>
        <p:spPr>
          <a:xfrm>
            <a:off x="911225" y="420956"/>
            <a:ext cx="3988435" cy="513080"/>
          </a:xfrm>
          <a:prstGeom prst="rect">
            <a:avLst/>
          </a:prstGeom>
        </p:spPr>
        <p:txBody>
          <a:bodyPr vert="horz" wrap="square" lIns="0" tIns="12700" rIns="0" bIns="0" rtlCol="0">
            <a:spAutoFit/>
          </a:bodyPr>
          <a:lstStyle/>
          <a:p>
            <a:pPr marL="12700">
              <a:lnSpc>
                <a:spcPct val="100000"/>
              </a:lnSpc>
              <a:spcBef>
                <a:spcPts val="100"/>
              </a:spcBef>
            </a:pPr>
            <a:r>
              <a:rPr spc="-10"/>
              <a:t>Literature</a:t>
            </a:r>
            <a:r>
              <a:rPr spc="-90"/>
              <a:t> </a:t>
            </a:r>
            <a:r>
              <a:rPr spc="-5"/>
              <a:t>Review</a:t>
            </a:r>
          </a:p>
        </p:txBody>
      </p:sp>
      <p:sp>
        <p:nvSpPr>
          <p:cNvPr id="8" name="object 8"/>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7</a:t>
            </a:fld>
            <a:endParaRPr/>
          </a:p>
        </p:txBody>
      </p:sp>
      <p:graphicFrame>
        <p:nvGraphicFramePr>
          <p:cNvPr id="6" name="Table 12">
            <a:extLst>
              <a:ext uri="{FF2B5EF4-FFF2-40B4-BE49-F238E27FC236}">
                <a16:creationId xmlns:a16="http://schemas.microsoft.com/office/drawing/2014/main" id="{A3C5DB05-DE87-68F8-FE48-BFCFACDA9EBF}"/>
              </a:ext>
            </a:extLst>
          </p:cNvPr>
          <p:cNvGraphicFramePr>
            <a:graphicFrameLocks noGrp="1"/>
          </p:cNvGraphicFramePr>
          <p:nvPr>
            <p:extLst>
              <p:ext uri="{D42A27DB-BD31-4B8C-83A1-F6EECF244321}">
                <p14:modId xmlns:p14="http://schemas.microsoft.com/office/powerpoint/2010/main" val="3423778901"/>
              </p:ext>
            </p:extLst>
          </p:nvPr>
        </p:nvGraphicFramePr>
        <p:xfrm>
          <a:off x="1332844" y="1349211"/>
          <a:ext cx="9753599" cy="5030114"/>
        </p:xfrm>
        <a:graphic>
          <a:graphicData uri="http://schemas.openxmlformats.org/drawingml/2006/table">
            <a:tbl>
              <a:tblPr firstRow="1" bandRow="1">
                <a:tableStyleId>{93296810-A885-4BE3-A3E7-6D5BEEA58F35}</a:tableStyleId>
              </a:tblPr>
              <a:tblGrid>
                <a:gridCol w="1123939">
                  <a:extLst>
                    <a:ext uri="{9D8B030D-6E8A-4147-A177-3AD203B41FA5}">
                      <a16:colId xmlns:a16="http://schemas.microsoft.com/office/drawing/2014/main" val="709903393"/>
                    </a:ext>
                  </a:extLst>
                </a:gridCol>
                <a:gridCol w="2514600">
                  <a:extLst>
                    <a:ext uri="{9D8B030D-6E8A-4147-A177-3AD203B41FA5}">
                      <a16:colId xmlns:a16="http://schemas.microsoft.com/office/drawing/2014/main" val="1323876836"/>
                    </a:ext>
                  </a:extLst>
                </a:gridCol>
                <a:gridCol w="2971800">
                  <a:extLst>
                    <a:ext uri="{9D8B030D-6E8A-4147-A177-3AD203B41FA5}">
                      <a16:colId xmlns:a16="http://schemas.microsoft.com/office/drawing/2014/main" val="1265926789"/>
                    </a:ext>
                  </a:extLst>
                </a:gridCol>
                <a:gridCol w="3143260">
                  <a:extLst>
                    <a:ext uri="{9D8B030D-6E8A-4147-A177-3AD203B41FA5}">
                      <a16:colId xmlns:a16="http://schemas.microsoft.com/office/drawing/2014/main" val="2321389108"/>
                    </a:ext>
                  </a:extLst>
                </a:gridCol>
              </a:tblGrid>
              <a:tr h="735084">
                <a:tc>
                  <a:txBody>
                    <a:bodyPr/>
                    <a:lstStyle/>
                    <a:p>
                      <a:pPr marL="184785" marR="173990" indent="-3175" algn="ctr">
                        <a:lnSpc>
                          <a:spcPct val="100699"/>
                        </a:lnSpc>
                        <a:spcBef>
                          <a:spcPts val="210"/>
                        </a:spcBef>
                      </a:pPr>
                      <a:r>
                        <a:rPr sz="1800" b="1" spc="-5" dirty="0">
                          <a:latin typeface="Times New Roman"/>
                          <a:cs typeface="Times New Roman"/>
                        </a:rPr>
                        <a:t>Sr.  No</a:t>
                      </a:r>
                      <a:endParaRPr sz="1800" dirty="0">
                        <a:latin typeface="Times New Roman"/>
                        <a:cs typeface="Times New Roman"/>
                      </a:endParaRPr>
                    </a:p>
                  </a:txBody>
                  <a:tcPr marL="0" marR="0" marT="266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3535" algn="ctr">
                        <a:lnSpc>
                          <a:spcPct val="100000"/>
                        </a:lnSpc>
                        <a:spcBef>
                          <a:spcPts val="225"/>
                        </a:spcBef>
                      </a:pPr>
                      <a:r>
                        <a:rPr sz="1800" b="1" spc="-5" dirty="0">
                          <a:latin typeface="Times New Roman"/>
                          <a:cs typeface="Times New Roman"/>
                        </a:rPr>
                        <a:t>Authors</a:t>
                      </a:r>
                      <a:endParaRPr sz="1800" dirty="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1535" algn="l">
                        <a:lnSpc>
                          <a:spcPct val="100000"/>
                        </a:lnSpc>
                        <a:spcBef>
                          <a:spcPts val="225"/>
                        </a:spcBef>
                      </a:pPr>
                      <a:r>
                        <a:rPr sz="1800" b="1" spc="-5" dirty="0">
                          <a:latin typeface="Times New Roman"/>
                          <a:cs typeface="Times New Roman"/>
                        </a:rPr>
                        <a:t>Name</a:t>
                      </a:r>
                      <a:r>
                        <a:rPr sz="1800" b="1" spc="-35" dirty="0">
                          <a:latin typeface="Times New Roman"/>
                          <a:cs typeface="Times New Roman"/>
                        </a:rPr>
                        <a:t> </a:t>
                      </a:r>
                      <a:r>
                        <a:rPr sz="1800" b="1" dirty="0">
                          <a:latin typeface="Times New Roman"/>
                          <a:cs typeface="Times New Roman"/>
                        </a:rPr>
                        <a:t>of</a:t>
                      </a:r>
                      <a:r>
                        <a:rPr sz="1800" b="1" spc="-30" dirty="0">
                          <a:latin typeface="Times New Roman"/>
                          <a:cs typeface="Times New Roman"/>
                        </a:rPr>
                        <a:t> </a:t>
                      </a:r>
                      <a:r>
                        <a:rPr sz="1800" b="1" spc="-5" dirty="0">
                          <a:latin typeface="Times New Roman"/>
                          <a:cs typeface="Times New Roman"/>
                        </a:rPr>
                        <a:t>Topic</a:t>
                      </a:r>
                      <a:endParaRPr sz="1800" dirty="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225"/>
                        </a:spcBef>
                      </a:pPr>
                      <a:r>
                        <a:rPr sz="1800" b="1" spc="-5">
                          <a:latin typeface="Times New Roman"/>
                          <a:cs typeface="Times New Roman"/>
                        </a:rPr>
                        <a:t>Major</a:t>
                      </a:r>
                      <a:r>
                        <a:rPr sz="1800" b="1" spc="-50">
                          <a:latin typeface="Times New Roman"/>
                          <a:cs typeface="Times New Roman"/>
                        </a:rPr>
                        <a:t> </a:t>
                      </a:r>
                      <a:r>
                        <a:rPr sz="1800" b="1" spc="-5">
                          <a:latin typeface="Times New Roman"/>
                          <a:cs typeface="Times New Roman"/>
                        </a:rPr>
                        <a:t>Findings</a:t>
                      </a:r>
                      <a:endParaRPr sz="180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0920200"/>
                  </a:ext>
                </a:extLst>
              </a:tr>
              <a:tr h="1145341">
                <a:tc>
                  <a:txBody>
                    <a:bodyPr/>
                    <a:lstStyle/>
                    <a:p>
                      <a:pPr marR="259715" algn="ctr">
                        <a:lnSpc>
                          <a:spcPct val="100000"/>
                        </a:lnSpc>
                        <a:spcBef>
                          <a:spcPts val="225"/>
                        </a:spcBef>
                      </a:pPr>
                      <a:r>
                        <a:rPr sz="1800" dirty="0">
                          <a:latin typeface="Times New Roman"/>
                          <a:cs typeface="Times New Roman"/>
                        </a:rPr>
                        <a:t>1</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800" dirty="0">
                          <a:latin typeface="Times New Roman"/>
                          <a:cs typeface="Times New Roman"/>
                        </a:rPr>
                        <a:t>Sowmya Vajjala. &amp;</a:t>
                      </a:r>
                    </a:p>
                    <a:p>
                      <a:pPr algn="ctr">
                        <a:lnSpc>
                          <a:spcPct val="100000"/>
                        </a:lnSpc>
                      </a:pPr>
                      <a:r>
                        <a:rPr lang="en-IN" sz="1800" dirty="0">
                          <a:latin typeface="Times New Roman"/>
                          <a:cs typeface="Times New Roman"/>
                        </a:rPr>
                        <a:t>Anuj Gupta.</a:t>
                      </a:r>
                      <a:endParaRPr sz="18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900" dirty="0">
                          <a:latin typeface="Times New Roman"/>
                          <a:cs typeface="Times New Roman"/>
                        </a:rPr>
                        <a:t>Practical natural Language Processing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a:latin typeface="Times New Roman"/>
                          <a:cs typeface="Times New Roman"/>
                        </a:rPr>
                        <a:t>A Comprehensive Guide to build Real-World</a:t>
                      </a:r>
                    </a:p>
                    <a:p>
                      <a:pPr algn="ctr">
                        <a:lnSpc>
                          <a:spcPct val="100000"/>
                        </a:lnSpc>
                      </a:pPr>
                      <a:r>
                        <a:rPr lang="en-IN" sz="1900">
                          <a:latin typeface="Times New Roman"/>
                          <a:cs typeface="Times New Roman"/>
                        </a:rPr>
                        <a:t>NLP Systems</a:t>
                      </a:r>
                      <a:endParaRPr sz="190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7639534"/>
                  </a:ext>
                </a:extLst>
              </a:tr>
              <a:tr h="2290683">
                <a:tc>
                  <a:txBody>
                    <a:bodyPr/>
                    <a:lstStyle/>
                    <a:p>
                      <a:pPr marR="259715" algn="ctr">
                        <a:lnSpc>
                          <a:spcPct val="100000"/>
                        </a:lnSpc>
                        <a:spcBef>
                          <a:spcPts val="225"/>
                        </a:spcBef>
                      </a:pPr>
                      <a:r>
                        <a:rPr sz="1800" dirty="0">
                          <a:latin typeface="Times New Roman"/>
                          <a:cs typeface="Times New Roman"/>
                        </a:rPr>
                        <a:t>2</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IN" sz="1900" dirty="0">
                        <a:latin typeface="Times New Roman"/>
                        <a:cs typeface="Times New Roman"/>
                      </a:endParaRPr>
                    </a:p>
                    <a:p>
                      <a:pPr algn="ctr">
                        <a:lnSpc>
                          <a:spcPct val="100000"/>
                        </a:lnSpc>
                      </a:pPr>
                      <a:r>
                        <a:rPr lang="en-IN" sz="1900" dirty="0">
                          <a:latin typeface="Times New Roman"/>
                          <a:cs typeface="Times New Roman"/>
                        </a:rPr>
                        <a:t>Jalaj </a:t>
                      </a:r>
                      <a:r>
                        <a:rPr lang="en-IN" sz="1900" dirty="0" err="1">
                          <a:latin typeface="Times New Roman"/>
                          <a:cs typeface="Times New Roman"/>
                        </a:rPr>
                        <a:t>Thanali</a:t>
                      </a:r>
                      <a:r>
                        <a:rPr lang="en-IN" sz="1900" dirty="0">
                          <a:latin typeface="Times New Roman"/>
                          <a:cs typeface="Times New Roman"/>
                        </a:rPr>
                        <a:t>.</a:t>
                      </a:r>
                      <a:endParaRPr sz="20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Python Natural Language   Processing</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900" dirty="0">
                          <a:latin typeface="Times New Roman"/>
                          <a:cs typeface="Times New Roman"/>
                        </a:rPr>
                        <a:t>Encompasses various techniques and tools for processing and analyzing natural language using </a:t>
                      </a:r>
                    </a:p>
                    <a:p>
                      <a:pPr algn="ctr">
                        <a:lnSpc>
                          <a:spcPct val="100000"/>
                        </a:lnSpc>
                      </a:pPr>
                      <a:r>
                        <a:rPr lang="en-US" sz="1900" dirty="0">
                          <a:latin typeface="Times New Roman"/>
                          <a:cs typeface="Times New Roman"/>
                        </a:rPr>
                        <a:t>Python.</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2607582"/>
                  </a:ext>
                </a:extLst>
              </a:tr>
              <a:tr h="859006">
                <a:tc>
                  <a:txBody>
                    <a:bodyPr/>
                    <a:lstStyle/>
                    <a:p>
                      <a:pPr marR="259715" algn="ctr">
                        <a:lnSpc>
                          <a:spcPct val="100000"/>
                        </a:lnSpc>
                        <a:spcBef>
                          <a:spcPts val="225"/>
                        </a:spcBef>
                      </a:pPr>
                      <a:r>
                        <a:rPr sz="1800">
                          <a:latin typeface="Times New Roman"/>
                          <a:cs typeface="Times New Roman"/>
                        </a:rPr>
                        <a:t>3</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800" dirty="0">
                          <a:latin typeface="Times New Roman"/>
                          <a:cs typeface="Times New Roman"/>
                        </a:rPr>
                        <a:t>Sebastian Raschka. &amp;</a:t>
                      </a:r>
                    </a:p>
                    <a:p>
                      <a:pPr algn="ctr">
                        <a:lnSpc>
                          <a:spcPct val="100000"/>
                        </a:lnSpc>
                      </a:pPr>
                      <a:r>
                        <a:rPr lang="en-IN" sz="1800" dirty="0">
                          <a:latin typeface="Times New Roman"/>
                          <a:cs typeface="Times New Roman"/>
                        </a:rPr>
                        <a:t>Vahid Mirjalili.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Python Machine Learning </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Working of AI specifically for voice assistant.</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4452630"/>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867025" cy="513080"/>
          </a:xfrm>
          <a:prstGeom prst="rect">
            <a:avLst/>
          </a:prstGeom>
        </p:spPr>
        <p:txBody>
          <a:bodyPr vert="horz" wrap="square" lIns="0" tIns="12700" rIns="0" bIns="0" rtlCol="0">
            <a:spAutoFit/>
          </a:bodyPr>
          <a:lstStyle/>
          <a:p>
            <a:pPr marL="12700">
              <a:lnSpc>
                <a:spcPct val="100000"/>
              </a:lnSpc>
              <a:spcBef>
                <a:spcPts val="100"/>
              </a:spcBef>
            </a:pPr>
            <a:r>
              <a:rPr spc="-5"/>
              <a:t>Methodology</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8</a:t>
            </a:fld>
            <a:endParaRPr/>
          </a:p>
        </p:txBody>
      </p:sp>
      <p:pic>
        <p:nvPicPr>
          <p:cNvPr id="26" name="Picture 25">
            <a:extLst>
              <a:ext uri="{FF2B5EF4-FFF2-40B4-BE49-F238E27FC236}">
                <a16:creationId xmlns:a16="http://schemas.microsoft.com/office/drawing/2014/main" id="{60BBF8EE-E5C6-1A6F-4407-5C5F4C8A1706}"/>
              </a:ext>
            </a:extLst>
          </p:cNvPr>
          <p:cNvPicPr>
            <a:picLocks noChangeAspect="1"/>
          </p:cNvPicPr>
          <p:nvPr/>
        </p:nvPicPr>
        <p:blipFill>
          <a:blip r:embed="rId2"/>
          <a:stretch>
            <a:fillRect/>
          </a:stretch>
        </p:blipFill>
        <p:spPr>
          <a:xfrm>
            <a:off x="3886200" y="1341481"/>
            <a:ext cx="4419600" cy="5235122"/>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57865" cy="1092200"/>
            <a:chOff x="493778" y="365125"/>
            <a:chExt cx="10857865" cy="1092200"/>
          </a:xfrm>
        </p:grpSpPr>
        <p:pic>
          <p:nvPicPr>
            <p:cNvPr id="3" name="object 3"/>
            <p:cNvPicPr/>
            <p:nvPr/>
          </p:nvPicPr>
          <p:blipFill>
            <a:blip r:embed="rId2"/>
            <a:stretch>
              <a:fillRect/>
            </a:stretch>
          </p:blipFill>
          <p:spPr>
            <a:xfrm>
              <a:off x="493778" y="372587"/>
              <a:ext cx="10813397" cy="1084380"/>
            </a:xfrm>
            <a:prstGeom prst="rect">
              <a:avLst/>
            </a:prstGeom>
          </p:spPr>
        </p:pic>
        <p:pic>
          <p:nvPicPr>
            <p:cNvPr id="4" name="object 4"/>
            <p:cNvPicPr/>
            <p:nvPr/>
          </p:nvPicPr>
          <p:blipFill>
            <a:blip r:embed="rId3"/>
            <a:stretch>
              <a:fillRect/>
            </a:stretch>
          </p:blipFill>
          <p:spPr>
            <a:xfrm>
              <a:off x="838200" y="365125"/>
              <a:ext cx="10513422" cy="784405"/>
            </a:xfrm>
            <a:prstGeom prst="rect">
              <a:avLst/>
            </a:prstGeom>
          </p:spPr>
        </p:pic>
      </p:grpSp>
      <p:sp>
        <p:nvSpPr>
          <p:cNvPr id="5" name="object 5"/>
          <p:cNvSpPr txBox="1">
            <a:spLocks noGrp="1"/>
          </p:cNvSpPr>
          <p:nvPr>
            <p:ph type="title"/>
          </p:nvPr>
        </p:nvSpPr>
        <p:spPr>
          <a:xfrm>
            <a:off x="930089" y="537395"/>
            <a:ext cx="10210165" cy="439864"/>
          </a:xfrm>
          <a:prstGeom prst="rect">
            <a:avLst/>
          </a:prstGeom>
        </p:spPr>
        <p:txBody>
          <a:bodyPr vert="horz" wrap="square" lIns="0" tIns="16510" rIns="0" bIns="0" rtlCol="0">
            <a:spAutoFit/>
          </a:bodyPr>
          <a:lstStyle/>
          <a:p>
            <a:pPr marL="12700">
              <a:lnSpc>
                <a:spcPts val="3250"/>
              </a:lnSpc>
              <a:spcBef>
                <a:spcPts val="130"/>
              </a:spcBef>
            </a:pPr>
            <a:r>
              <a:rPr sz="2850" spc="10" dirty="0"/>
              <a:t>Design</a:t>
            </a:r>
            <a:r>
              <a:rPr sz="2850" spc="5" dirty="0"/>
              <a:t> </a:t>
            </a:r>
            <a:r>
              <a:rPr sz="2850" spc="10" dirty="0"/>
              <a:t>of</a:t>
            </a:r>
            <a:r>
              <a:rPr sz="2850" spc="5" dirty="0"/>
              <a:t> </a:t>
            </a:r>
            <a:r>
              <a:rPr sz="2850" spc="10" dirty="0"/>
              <a:t>Mode</a:t>
            </a:r>
            <a:r>
              <a:rPr lang="en-IN" sz="2850" spc="10" dirty="0"/>
              <a:t>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9</a:t>
            </a:fld>
            <a:endParaRPr/>
          </a:p>
        </p:txBody>
      </p:sp>
      <p:pic>
        <p:nvPicPr>
          <p:cNvPr id="8" name="Picture 7">
            <a:extLst>
              <a:ext uri="{FF2B5EF4-FFF2-40B4-BE49-F238E27FC236}">
                <a16:creationId xmlns:a16="http://schemas.microsoft.com/office/drawing/2014/main" id="{50716B30-338B-C24D-C4E6-82703A48D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 y="2012693"/>
            <a:ext cx="12192000" cy="3893679"/>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195942"/>
            <a:ext cx="10831830" cy="1162685"/>
            <a:chOff x="493778" y="195942"/>
            <a:chExt cx="10831830" cy="1162685"/>
          </a:xfrm>
        </p:grpSpPr>
        <p:pic>
          <p:nvPicPr>
            <p:cNvPr id="3" name="object 3"/>
            <p:cNvPicPr/>
            <p:nvPr/>
          </p:nvPicPr>
          <p:blipFill>
            <a:blip r:embed="rId3"/>
            <a:stretch>
              <a:fillRect/>
            </a:stretch>
          </p:blipFill>
          <p:spPr>
            <a:xfrm>
              <a:off x="493778" y="203405"/>
              <a:ext cx="10787271" cy="1154909"/>
            </a:xfrm>
            <a:prstGeom prst="rect">
              <a:avLst/>
            </a:prstGeom>
          </p:spPr>
        </p:pic>
        <p:pic>
          <p:nvPicPr>
            <p:cNvPr id="4" name="object 4"/>
            <p:cNvPicPr/>
            <p:nvPr/>
          </p:nvPicPr>
          <p:blipFill>
            <a:blip r:embed="rId4"/>
            <a:stretch>
              <a:fillRect/>
            </a:stretch>
          </p:blipFill>
          <p:spPr>
            <a:xfrm>
              <a:off x="838200" y="195942"/>
              <a:ext cx="10487296" cy="854934"/>
            </a:xfrm>
            <a:prstGeom prst="rect">
              <a:avLst/>
            </a:prstGeom>
          </p:spPr>
        </p:pic>
      </p:grpSp>
      <p:sp>
        <p:nvSpPr>
          <p:cNvPr id="5" name="object 5"/>
          <p:cNvSpPr txBox="1">
            <a:spLocks noGrp="1"/>
          </p:cNvSpPr>
          <p:nvPr>
            <p:ph type="title"/>
          </p:nvPr>
        </p:nvSpPr>
        <p:spPr>
          <a:xfrm>
            <a:off x="866504" y="391615"/>
            <a:ext cx="8882380" cy="463588"/>
          </a:xfrm>
          <a:prstGeom prst="rect">
            <a:avLst/>
          </a:prstGeom>
        </p:spPr>
        <p:txBody>
          <a:bodyPr vert="horz" wrap="square" lIns="0" tIns="65405" rIns="0" bIns="0" rtlCol="0">
            <a:spAutoFit/>
          </a:bodyPr>
          <a:lstStyle/>
          <a:p>
            <a:pPr marL="12700" marR="5080">
              <a:lnSpc>
                <a:spcPts val="3080"/>
              </a:lnSpc>
              <a:spcBef>
                <a:spcPts val="515"/>
              </a:spcBef>
            </a:pPr>
            <a:r>
              <a:rPr sz="2850" spc="15" dirty="0"/>
              <a:t>Assembly</a:t>
            </a:r>
            <a:r>
              <a:rPr sz="2850" spc="-5" dirty="0"/>
              <a:t> </a:t>
            </a:r>
            <a:r>
              <a:rPr sz="2850" spc="10" dirty="0"/>
              <a:t>and</a:t>
            </a:r>
            <a:r>
              <a:rPr sz="2850" spc="-5" dirty="0"/>
              <a:t> </a:t>
            </a:r>
            <a:r>
              <a:rPr sz="2850" spc="10" dirty="0"/>
              <a:t>working</a:t>
            </a:r>
            <a:r>
              <a:rPr sz="2850" dirty="0"/>
              <a:t> </a:t>
            </a:r>
            <a:r>
              <a:rPr sz="2850" spc="10" dirty="0"/>
              <a:t>of</a:t>
            </a:r>
            <a:r>
              <a:rPr sz="2850" spc="-5" dirty="0"/>
              <a:t> </a:t>
            </a:r>
            <a:r>
              <a:rPr sz="2850" spc="15" dirty="0"/>
              <a:t>Model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10</a:t>
            </a:fld>
            <a:endParaRPr/>
          </a:p>
        </p:txBody>
      </p:sp>
      <p:sp>
        <p:nvSpPr>
          <p:cNvPr id="11" name="TextBox 10">
            <a:extLst>
              <a:ext uri="{FF2B5EF4-FFF2-40B4-BE49-F238E27FC236}">
                <a16:creationId xmlns:a16="http://schemas.microsoft.com/office/drawing/2014/main" id="{03811343-A87B-4B08-C403-694284AB03C2}"/>
              </a:ext>
            </a:extLst>
          </p:cNvPr>
          <p:cNvSpPr txBox="1"/>
          <p:nvPr/>
        </p:nvSpPr>
        <p:spPr>
          <a:xfrm>
            <a:off x="911225" y="1328043"/>
            <a:ext cx="10787271" cy="489364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model needs following software and hardware requirements: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Software requirements </a:t>
            </a:r>
            <a:r>
              <a:rPr lang="en-US" sz="2400" dirty="0">
                <a:latin typeface="Times New Roman" panose="02020603050405020304" pitchFamily="18" charset="0"/>
                <a:cs typeface="Times New Roman" panose="02020603050405020304" pitchFamily="18" charset="0"/>
              </a:rPr>
              <a:t>are: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Python version should be 3.5 or above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OS version should support Python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Hardware requirement </a:t>
            </a:r>
            <a:r>
              <a:rPr lang="en-US" sz="2400" dirty="0">
                <a:latin typeface="Times New Roman" panose="02020603050405020304" pitchFamily="18" charset="0"/>
                <a:cs typeface="Times New Roman" panose="02020603050405020304" pitchFamily="18" charset="0"/>
              </a:rPr>
              <a:t>are: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Processor : Intel, AMD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RAM : 2GB</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OS: Windows, MacOS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Microphone (voice input)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Source code link :- https://github.com/AkshadAmbekar/voice-assistant-pbl</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5382895" cy="513080"/>
          </a:xfrm>
          <a:prstGeom prst="rect">
            <a:avLst/>
          </a:prstGeom>
        </p:spPr>
        <p:txBody>
          <a:bodyPr vert="horz" wrap="square" lIns="0" tIns="12700" rIns="0" bIns="0" rtlCol="0">
            <a:spAutoFit/>
          </a:bodyPr>
          <a:lstStyle/>
          <a:p>
            <a:pPr marL="12700">
              <a:lnSpc>
                <a:spcPct val="100000"/>
              </a:lnSpc>
              <a:spcBef>
                <a:spcPts val="100"/>
              </a:spcBef>
            </a:pPr>
            <a:r>
              <a:rPr spc="-10"/>
              <a:t>Results</a:t>
            </a:r>
            <a:r>
              <a:rPr spc="-50"/>
              <a:t> </a:t>
            </a:r>
            <a:r>
              <a:rPr spc="-10"/>
              <a:t>and</a:t>
            </a:r>
            <a:r>
              <a:rPr spc="-45"/>
              <a:t> </a:t>
            </a:r>
            <a:r>
              <a:rPr spc="-10"/>
              <a:t>discussions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11</a:t>
            </a:fld>
            <a:endParaRPr/>
          </a:p>
        </p:txBody>
      </p:sp>
      <p:sp>
        <p:nvSpPr>
          <p:cNvPr id="8" name="TextBox 7">
            <a:extLst>
              <a:ext uri="{FF2B5EF4-FFF2-40B4-BE49-F238E27FC236}">
                <a16:creationId xmlns:a16="http://schemas.microsoft.com/office/drawing/2014/main" id="{51E8CB18-C2B9-AACE-4FD7-0475C1B2F833}"/>
              </a:ext>
            </a:extLst>
          </p:cNvPr>
          <p:cNvSpPr txBox="1"/>
          <p:nvPr/>
        </p:nvSpPr>
        <p:spPr>
          <a:xfrm>
            <a:off x="911225" y="1066800"/>
            <a:ext cx="10108426" cy="2795958"/>
          </a:xfrm>
          <a:prstGeom prst="rect">
            <a:avLst/>
          </a:prstGeom>
          <a:noFill/>
        </p:spPr>
        <p:txBody>
          <a:bodyPr wrap="square" lIns="91440" tIns="45720" rIns="91440" bIns="45720" rtlCol="0" anchor="t">
            <a:spAutoFit/>
          </a:bodyPr>
          <a:lstStyle/>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project work of voice assistant has been clearly explained in the report , how useful it is and how we can reply on voice assistant for basic task that user want to perform. Development of the software is almost completed from our side and it is also working as we excepted. So , many modification can be done on it now.</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483485" cy="513080"/>
          </a:xfrm>
          <a:prstGeom prst="rect">
            <a:avLst/>
          </a:prstGeom>
        </p:spPr>
        <p:txBody>
          <a:bodyPr vert="horz" wrap="square" lIns="0" tIns="12700" rIns="0" bIns="0" rtlCol="0">
            <a:spAutoFit/>
          </a:bodyPr>
          <a:lstStyle/>
          <a:p>
            <a:pPr marL="12700">
              <a:lnSpc>
                <a:spcPct val="100000"/>
              </a:lnSpc>
              <a:spcBef>
                <a:spcPts val="100"/>
              </a:spcBef>
            </a:pPr>
            <a:r>
              <a:rPr spc="-5"/>
              <a:t>Conclusion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12</a:t>
            </a:fld>
            <a:endParaRPr/>
          </a:p>
        </p:txBody>
      </p:sp>
      <p:sp>
        <p:nvSpPr>
          <p:cNvPr id="10" name="TextBox 9">
            <a:extLst>
              <a:ext uri="{FF2B5EF4-FFF2-40B4-BE49-F238E27FC236}">
                <a16:creationId xmlns:a16="http://schemas.microsoft.com/office/drawing/2014/main" id="{889982FE-F7C3-73A3-1892-30BD89C2BE29}"/>
              </a:ext>
            </a:extLst>
          </p:cNvPr>
          <p:cNvSpPr txBox="1"/>
          <p:nvPr/>
        </p:nvSpPr>
        <p:spPr>
          <a:xfrm>
            <a:off x="911225" y="1464838"/>
            <a:ext cx="10338937" cy="3349956"/>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uses Natural Language Processing to process the language spoken by the human and understand the query and process the query and respond to the human with the result.</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perform basic tasks such as battery percentage, music, current weather, news, send email, time and etc. and ultimately helping physically challenged people.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3279775" cy="505267"/>
          </a:xfrm>
          <a:prstGeom prst="rect">
            <a:avLst/>
          </a:prstGeom>
        </p:spPr>
        <p:txBody>
          <a:bodyPr vert="horz" wrap="square" lIns="0" tIns="12700" rIns="0" bIns="0" rtlCol="0">
            <a:spAutoFit/>
          </a:bodyPr>
          <a:lstStyle/>
          <a:p>
            <a:pPr marL="12700">
              <a:lnSpc>
                <a:spcPct val="100000"/>
              </a:lnSpc>
              <a:spcBef>
                <a:spcPts val="100"/>
              </a:spcBef>
            </a:pPr>
            <a:r>
              <a:rPr spc="-10" dirty="0"/>
              <a:t>Future</a:t>
            </a:r>
            <a:r>
              <a:rPr spc="-90" dirty="0"/>
              <a:t> </a:t>
            </a:r>
            <a:r>
              <a:rPr spc="-5" dirty="0"/>
              <a:t>scope</a:t>
            </a:r>
            <a:r>
              <a:rPr lang="en-IN" spc="-5" dirty="0"/>
              <a:t>s</a:t>
            </a:r>
            <a:endParaRPr spc="-5" dirty="0"/>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13</a:t>
            </a:fld>
            <a:endParaRPr/>
          </a:p>
        </p:txBody>
      </p:sp>
      <p:sp>
        <p:nvSpPr>
          <p:cNvPr id="8" name="TextBox 7">
            <a:extLst>
              <a:ext uri="{FF2B5EF4-FFF2-40B4-BE49-F238E27FC236}">
                <a16:creationId xmlns:a16="http://schemas.microsoft.com/office/drawing/2014/main" id="{13A41A05-FD73-AE1C-2AB0-D7537CBC2D48}"/>
              </a:ext>
            </a:extLst>
          </p:cNvPr>
          <p:cNvSpPr txBox="1"/>
          <p:nvPr/>
        </p:nvSpPr>
        <p:spPr>
          <a:xfrm>
            <a:off x="950912" y="1066800"/>
            <a:ext cx="10290175" cy="3357137"/>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Sending emails with voice assistant.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Scheduling appointments using voice assistant.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user interface of voice assistant (UI).</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Speed and Efficiency.</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Intuitiveness and </a:t>
            </a:r>
            <a:r>
              <a:rPr lang="en-US" sz="2400" dirty="0">
                <a:latin typeface="Times New Roman" panose="02020603050405020304" pitchFamily="18" charset="0"/>
                <a:cs typeface="Times New Roman" panose="02020603050405020304" pitchFamily="18" charset="0"/>
              </a:rPr>
              <a:t>convenience.</a:t>
            </a:r>
            <a:r>
              <a:rPr lang="en-US" sz="2400" dirty="0"/>
              <a:t> </a:t>
            </a:r>
            <a:endParaRPr lang="en-IN" sz="24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551430" cy="513080"/>
          </a:xfrm>
          <a:prstGeom prst="rect">
            <a:avLst/>
          </a:prstGeom>
        </p:spPr>
        <p:txBody>
          <a:bodyPr vert="horz" wrap="square" lIns="0" tIns="12700" rIns="0" bIns="0" rtlCol="0">
            <a:spAutoFit/>
          </a:bodyPr>
          <a:lstStyle/>
          <a:p>
            <a:pPr marL="12700">
              <a:lnSpc>
                <a:spcPct val="100000"/>
              </a:lnSpc>
              <a:spcBef>
                <a:spcPts val="100"/>
              </a:spcBef>
            </a:pPr>
            <a:r>
              <a:rPr spc="-5"/>
              <a:t>References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14</a:t>
            </a:fld>
            <a:endParaRPr/>
          </a:p>
        </p:txBody>
      </p:sp>
      <p:sp>
        <p:nvSpPr>
          <p:cNvPr id="8" name="TextBox 7">
            <a:extLst>
              <a:ext uri="{FF2B5EF4-FFF2-40B4-BE49-F238E27FC236}">
                <a16:creationId xmlns:a16="http://schemas.microsoft.com/office/drawing/2014/main" id="{7B27C365-676E-5591-CEE2-BA9A3680B819}"/>
              </a:ext>
            </a:extLst>
          </p:cNvPr>
          <p:cNvSpPr txBox="1"/>
          <p:nvPr/>
        </p:nvSpPr>
        <p:spPr>
          <a:xfrm>
            <a:off x="950912" y="1066800"/>
            <a:ext cx="10290175" cy="4524315"/>
          </a:xfrm>
          <a:prstGeom prst="rect">
            <a:avLst/>
          </a:prstGeom>
          <a:noFill/>
        </p:spPr>
        <p:txBody>
          <a:bodyPr wrap="square" rtlCol="0" anchor="ctr">
            <a:spAutoFit/>
          </a:body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Internet sources: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YouTube - Code With Harry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Wikipedia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ChatGPT</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Books: </a:t>
            </a:r>
          </a:p>
          <a:p>
            <a:endParaRPr lang="en-US" sz="2400" b="1" dirty="0">
              <a:latin typeface="Times New Roman" panose="02020603050405020304" pitchFamily="18" charset="0"/>
              <a:cs typeface="Times New Roman" panose="02020603050405020304" pitchFamily="18" charset="0"/>
            </a:endParaRPr>
          </a:p>
          <a:p>
            <a:r>
              <a:rPr lang="en-IN" sz="2400" dirty="0">
                <a:latin typeface="Times New Roman"/>
                <a:cs typeface="Times New Roman"/>
              </a:rPr>
              <a:t>Python Machine Learning by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Sowmya Vajjala &amp;</a:t>
            </a:r>
            <a:r>
              <a:rPr lang="en-IN" sz="2400" dirty="0"/>
              <a:t>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Anuj Gupta.</a:t>
            </a:r>
            <a:endParaRPr lang="en-IN" sz="2400" dirty="0">
              <a:latin typeface="Times New Roman"/>
              <a:cs typeface="Times New Roman"/>
            </a:endParaRPr>
          </a:p>
          <a:p>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Practical natural Language Processing by </a:t>
            </a:r>
            <a:r>
              <a:rPr lang="en-IN" sz="2400" dirty="0">
                <a:latin typeface="Times New Roman"/>
                <a:cs typeface="Times New Roman"/>
              </a:rPr>
              <a:t>Sebastian Raschka &amp; Vahid Mirjalili.</a:t>
            </a:r>
            <a:endParaRPr lang="en-IN" sz="2400" dirty="0">
              <a:effectLst/>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27"/>
  <p:tag name="AS_OS" val="Unix 6.5.0.1014"/>
  <p:tag name="AS_RELEASE_DATE" val="2023.01.14"/>
  <p:tag name="AS_TITLE" val="Aspose.Slides for .NET5"/>
  <p:tag name="AS_VERSION" val="2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TotalTime>
  <Words>775</Words>
  <Application>Microsoft Office PowerPoint</Application>
  <PresentationFormat>Widescreen</PresentationFormat>
  <Paragraphs>141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Arial MT</vt:lpstr>
      <vt:lpstr>Calibri</vt:lpstr>
      <vt:lpstr>Times New Roman</vt:lpstr>
      <vt:lpstr>Office Theme</vt:lpstr>
      <vt:lpstr>PowerPoint Presentation</vt:lpstr>
      <vt:lpstr>CONTENTS</vt:lpstr>
      <vt:lpstr>Introduction</vt:lpstr>
      <vt:lpstr>Need of the Project</vt:lpstr>
      <vt:lpstr>Problem Statement/Aim </vt:lpstr>
      <vt:lpstr>Objectives</vt:lpstr>
      <vt:lpstr>Literature Review</vt:lpstr>
      <vt:lpstr>Methodology</vt:lpstr>
      <vt:lpstr>Design of Model</vt:lpstr>
      <vt:lpstr>Assembly and working of Model</vt:lpstr>
      <vt:lpstr>Results and discussions</vt:lpstr>
      <vt:lpstr>Conclusion</vt:lpstr>
      <vt:lpstr>Future scopes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Sarang Deshpande</dc:creator>
  <cp:lastModifiedBy>sarangdeshpande.ssd@gmail.com</cp:lastModifiedBy>
  <cp:revision>198</cp:revision>
  <dcterms:created xsi:type="dcterms:W3CDTF">2023-04-28T17:23:11Z</dcterms:created>
  <dcterms:modified xsi:type="dcterms:W3CDTF">2025-04-24T05:20:48Z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